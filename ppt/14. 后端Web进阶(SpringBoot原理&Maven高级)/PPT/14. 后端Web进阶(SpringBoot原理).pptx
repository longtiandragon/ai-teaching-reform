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3"/>
  </p:notesMasterIdLst>
  <p:handoutMasterIdLst>
    <p:handoutMasterId r:id="rId44"/>
  </p:handoutMasterIdLst>
  <p:sldIdLst>
    <p:sldId id="280" r:id="rId6"/>
    <p:sldId id="693" r:id="rId7"/>
    <p:sldId id="694" r:id="rId8"/>
    <p:sldId id="695" r:id="rId9"/>
    <p:sldId id="696" r:id="rId10"/>
    <p:sldId id="697" r:id="rId11"/>
    <p:sldId id="698" r:id="rId12"/>
    <p:sldId id="710" r:id="rId13"/>
    <p:sldId id="699" r:id="rId14"/>
    <p:sldId id="700" r:id="rId15"/>
    <p:sldId id="711" r:id="rId16"/>
    <p:sldId id="702" r:id="rId17"/>
    <p:sldId id="703" r:id="rId18"/>
    <p:sldId id="712" r:id="rId19"/>
    <p:sldId id="704" r:id="rId20"/>
    <p:sldId id="705" r:id="rId21"/>
    <p:sldId id="706" r:id="rId22"/>
    <p:sldId id="707" r:id="rId23"/>
    <p:sldId id="718" r:id="rId24"/>
    <p:sldId id="719" r:id="rId25"/>
    <p:sldId id="720" r:id="rId26"/>
    <p:sldId id="709" r:id="rId27"/>
    <p:sldId id="721" r:id="rId28"/>
    <p:sldId id="713" r:id="rId29"/>
    <p:sldId id="727" r:id="rId30"/>
    <p:sldId id="731" r:id="rId31"/>
    <p:sldId id="714" r:id="rId32"/>
    <p:sldId id="729" r:id="rId33"/>
    <p:sldId id="715" r:id="rId34"/>
    <p:sldId id="716" r:id="rId35"/>
    <p:sldId id="717" r:id="rId36"/>
    <p:sldId id="723" r:id="rId37"/>
    <p:sldId id="724" r:id="rId38"/>
    <p:sldId id="730" r:id="rId39"/>
    <p:sldId id="725" r:id="rId40"/>
    <p:sldId id="726" r:id="rId41"/>
    <p:sldId id="288" r:id="rId42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282D2C"/>
    <a:srgbClr val="00B050"/>
    <a:srgbClr val="FFC000"/>
    <a:srgbClr val="9933FF"/>
    <a:srgbClr val="363C3B"/>
    <a:srgbClr val="FFFFD5"/>
    <a:srgbClr val="871094"/>
    <a:srgbClr val="3561FF"/>
    <a:srgbClr val="803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75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SpringBoot</a:t>
            </a:r>
            <a:r>
              <a:rPr lang="zh-CN" altLang="en-US" sz="2400"/>
              <a:t>原理篇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/>
              <a:t>Bean</a:t>
            </a:r>
            <a:r>
              <a:rPr lang="zh-CN" altLang="en-US"/>
              <a:t>管理</a:t>
            </a:r>
            <a:endParaRPr lang="en-US" altLang="zh-CN"/>
          </a:p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89375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824413-C41D-0B0A-3C20-B2C9947307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080D6DA-B580-C8B2-DFC0-8AA6FC8DF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1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SpringBoot </a:t>
            </a:r>
            <a:r>
              <a:rPr lang="zh-CN" altLang="en-US"/>
              <a:t>中支持三种格式的配置文件：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0F1A8716-D6D6-FFD1-7A82-E696726ECA7D}"/>
              </a:ext>
            </a:extLst>
          </p:cNvPr>
          <p:cNvGrpSpPr/>
          <p:nvPr/>
        </p:nvGrpSpPr>
        <p:grpSpPr>
          <a:xfrm>
            <a:off x="968126" y="1576086"/>
            <a:ext cx="5441568" cy="817331"/>
            <a:chOff x="2297722" y="3660322"/>
            <a:chExt cx="5995598" cy="81737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D9F21B6-A777-EB0A-3F71-03D3411A2E55}"/>
                </a:ext>
              </a:extLst>
            </p:cNvPr>
            <p:cNvSpPr/>
            <p:nvPr/>
          </p:nvSpPr>
          <p:spPr>
            <a:xfrm>
              <a:off x="2297726" y="3660325"/>
              <a:ext cx="5995594" cy="817376"/>
            </a:xfrm>
            <a:prstGeom prst="roundRect">
              <a:avLst>
                <a:gd name="adj" fmla="val 1151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0" rIns="0" bIns="0" rtlCol="0" anchor="t"/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server.port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=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endParaRPr lang="zh-CN" altLang="zh-CN" sz="200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56D4499-2865-1AE2-AA17-70B3E47DB633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0FA18A4-08DE-BDFD-4119-43959608925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FD491CD-FDAA-42C0-458D-E19DB7B5478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DD7AE8E-7137-909C-93DA-C4BDC9222FC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B9B804FF-DBDF-4090-2D68-28F26D94B484}"/>
              </a:ext>
            </a:extLst>
          </p:cNvPr>
          <p:cNvGrpSpPr/>
          <p:nvPr/>
        </p:nvGrpSpPr>
        <p:grpSpPr>
          <a:xfrm>
            <a:off x="968122" y="2577852"/>
            <a:ext cx="5441568" cy="1001765"/>
            <a:chOff x="2297722" y="3660322"/>
            <a:chExt cx="5995598" cy="100182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FD7AC45-0346-7F74-34FF-56BF40CE7B0F}"/>
                </a:ext>
              </a:extLst>
            </p:cNvPr>
            <p:cNvSpPr/>
            <p:nvPr/>
          </p:nvSpPr>
          <p:spPr>
            <a:xfrm>
              <a:off x="2297726" y="3660324"/>
              <a:ext cx="5995594" cy="1001822"/>
            </a:xfrm>
            <a:prstGeom prst="roundRect">
              <a:avLst>
                <a:gd name="adj" fmla="val 882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0" rIns="0" bIns="0" rtlCol="0" anchor="t"/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erver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port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</a:t>
              </a:r>
              <a:endParaRPr lang="zh-CN" altLang="zh-CN" sz="2000"/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29C6B58-8093-5FF0-CB59-01F7A503183E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7B8571F-E8BD-88D5-095E-791F9D6BDA5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2F549C9-9718-1F10-3909-083BD54A665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233C822-5F41-6D78-5018-DFD1CDCC59C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9F9F55F0-3DDE-A057-5D5A-EFB9A1625DFC}"/>
              </a:ext>
            </a:extLst>
          </p:cNvPr>
          <p:cNvGrpSpPr/>
          <p:nvPr/>
        </p:nvGrpSpPr>
        <p:grpSpPr>
          <a:xfrm>
            <a:off x="968118" y="3764054"/>
            <a:ext cx="5441568" cy="1001765"/>
            <a:chOff x="2297722" y="3660322"/>
            <a:chExt cx="5995598" cy="100182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EA16DDF-8B3E-AE53-46D8-11C4C1486D72}"/>
                </a:ext>
              </a:extLst>
            </p:cNvPr>
            <p:cNvSpPr/>
            <p:nvPr/>
          </p:nvSpPr>
          <p:spPr>
            <a:xfrm>
              <a:off x="2297726" y="3660324"/>
              <a:ext cx="5995594" cy="1001822"/>
            </a:xfrm>
            <a:prstGeom prst="roundRect">
              <a:avLst>
                <a:gd name="adj" fmla="val 882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0" rIns="0" bIns="0" rtlCol="0" anchor="t"/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erver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port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3</a:t>
              </a:r>
              <a:endParaRPr lang="zh-CN" altLang="zh-CN" sz="2000"/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4AFE570F-D1B2-B284-1E20-EDD29B165DC0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application.yaml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08A089B-F301-C5DD-6F64-167524919E7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85DF628-67BE-8C12-3B09-991AB87C92E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2B7FB92-0F02-8BFE-E0F5-3272A00478C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897534B-5E35-3444-74FF-A922E2F4C1DE}"/>
              </a:ext>
            </a:extLst>
          </p:cNvPr>
          <p:cNvSpPr txBox="1"/>
          <p:nvPr/>
        </p:nvSpPr>
        <p:spPr>
          <a:xfrm>
            <a:off x="6075058" y="195934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20AAF9-0A4F-7134-3FCE-976801F916B8}"/>
              </a:ext>
            </a:extLst>
          </p:cNvPr>
          <p:cNvSpPr txBox="1"/>
          <p:nvPr/>
        </p:nvSpPr>
        <p:spPr>
          <a:xfrm>
            <a:off x="6075058" y="2993178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BD2588-6681-C644-9DAD-25F55DE5313A}"/>
              </a:ext>
            </a:extLst>
          </p:cNvPr>
          <p:cNvSpPr txBox="1"/>
          <p:nvPr/>
        </p:nvSpPr>
        <p:spPr>
          <a:xfrm>
            <a:off x="6075058" y="4139288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567BB9D-16D8-822A-7C07-5C24BA36DC62}"/>
              </a:ext>
            </a:extLst>
          </p:cNvPr>
          <p:cNvGrpSpPr/>
          <p:nvPr/>
        </p:nvGrpSpPr>
        <p:grpSpPr>
          <a:xfrm>
            <a:off x="961856" y="6069500"/>
            <a:ext cx="10289162" cy="448408"/>
            <a:chOff x="710879" y="5978768"/>
            <a:chExt cx="10289391" cy="448408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731699B-616F-3754-63A9-63CF0F2BE0CE}"/>
                </a:ext>
              </a:extLst>
            </p:cNvPr>
            <p:cNvSpPr/>
            <p:nvPr/>
          </p:nvSpPr>
          <p:spPr>
            <a:xfrm>
              <a:off x="710880" y="5978769"/>
              <a:ext cx="1028939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虽然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支持多种格式配置文件，但是在项目开发时，推荐统一使用一种格式的配置 （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yml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是主流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）。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A13B1B5B-0BDB-A1D9-363F-F331C9BDC1C1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Shape 2468">
              <a:extLst>
                <a:ext uri="{FF2B5EF4-FFF2-40B4-BE49-F238E27FC236}">
                  <a16:creationId xmlns:a16="http://schemas.microsoft.com/office/drawing/2014/main" id="{399F4046-FC62-F235-AD9E-B54F1637047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FB11F6E-4944-9CC5-436A-834AE7C16DC0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29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 </a:t>
            </a:r>
            <a:r>
              <a:rPr lang="zh-CN" altLang="en-US">
                <a:latin typeface="Fira Code" panose="020B0809050000020004" pitchFamily="49" charset="0"/>
              </a:rPr>
              <a:t>除了支持配置文件属性配置，还支持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系统属性</a:t>
            </a:r>
            <a:r>
              <a:rPr lang="zh-CN" altLang="en-US">
                <a:latin typeface="Fira Code" panose="020B0809050000020004" pitchFamily="49" charset="0"/>
              </a:rPr>
              <a:t>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命令行参数</a:t>
            </a:r>
            <a:r>
              <a:rPr lang="zh-CN" altLang="en-US">
                <a:latin typeface="Fira Code" panose="020B0809050000020004" pitchFamily="49" charset="0"/>
              </a:rPr>
              <a:t>的方式进行属性配置。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39B535-9FD5-5CFF-8A5D-CBA6645DD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73" y="2463752"/>
            <a:ext cx="6390300" cy="3712735"/>
          </a:xfrm>
          <a:prstGeom prst="rect">
            <a:avLst/>
          </a:prstGeom>
        </p:spPr>
      </p:pic>
      <p:sp>
        <p:nvSpPr>
          <p:cNvPr id="5" name="!!MyService">
            <a:extLst>
              <a:ext uri="{FF2B5EF4-FFF2-40B4-BE49-F238E27FC236}">
                <a16:creationId xmlns:a16="http://schemas.microsoft.com/office/drawing/2014/main" id="{29808717-677D-D216-4422-B4DFDFAB3340}"/>
              </a:ext>
            </a:extLst>
          </p:cNvPr>
          <p:cNvSpPr txBox="1"/>
          <p:nvPr/>
        </p:nvSpPr>
        <p:spPr>
          <a:xfrm>
            <a:off x="1161802" y="2045698"/>
            <a:ext cx="3548199" cy="3244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  <a:effectLst/>
        </p:spPr>
        <p:txBody>
          <a:bodyPr wrap="square" tIns="72000" bIns="36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-D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9000</a:t>
            </a:r>
            <a:endParaRPr lang="zh-CN" altLang="zh-CN" sz="2400"/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2EB695C0-BAF9-6888-2C57-BB90EFA1817C}"/>
              </a:ext>
            </a:extLst>
          </p:cNvPr>
          <p:cNvCxnSpPr>
            <a:cxnSpLocks/>
            <a:stCxn id="8" idx="2"/>
            <a:endCxn id="10" idx="3"/>
          </p:cNvCxnSpPr>
          <p:nvPr/>
        </p:nvCxnSpPr>
        <p:spPr>
          <a:xfrm rot="5400000">
            <a:off x="6247349" y="2822651"/>
            <a:ext cx="2500926" cy="1596015"/>
          </a:xfrm>
          <a:prstGeom prst="bent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01E6D7D-DDB4-7EF0-0E99-E6798779266B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3107660" y="2198437"/>
            <a:ext cx="2232585" cy="2576101"/>
          </a:xfrm>
          <a:prstGeom prst="bent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MyService">
            <a:extLst>
              <a:ext uri="{FF2B5EF4-FFF2-40B4-BE49-F238E27FC236}">
                <a16:creationId xmlns:a16="http://schemas.microsoft.com/office/drawing/2014/main" id="{EE34A84A-F217-A48E-E209-AE75CE5DAC55}"/>
              </a:ext>
            </a:extLst>
          </p:cNvPr>
          <p:cNvSpPr txBox="1"/>
          <p:nvPr/>
        </p:nvSpPr>
        <p:spPr>
          <a:xfrm>
            <a:off x="6521719" y="2041703"/>
            <a:ext cx="3548199" cy="3608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  <a:effectLst/>
        </p:spPr>
        <p:txBody>
          <a:bodyPr wrap="square" tIns="72000" bIns="72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--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10010</a:t>
            </a:r>
            <a:endParaRPr lang="zh-CN" altLang="zh-CN" sz="2400"/>
          </a:p>
        </p:txBody>
      </p:sp>
      <p:sp>
        <p:nvSpPr>
          <p:cNvPr id="9" name="矩形 6533">
            <a:extLst>
              <a:ext uri="{FF2B5EF4-FFF2-40B4-BE49-F238E27FC236}">
                <a16:creationId xmlns:a16="http://schemas.microsoft.com/office/drawing/2014/main" id="{2BBF648D-3F07-9025-579A-56618018B1D2}"/>
              </a:ext>
            </a:extLst>
          </p:cNvPr>
          <p:cNvSpPr/>
          <p:nvPr/>
        </p:nvSpPr>
        <p:spPr>
          <a:xfrm>
            <a:off x="5512003" y="4494638"/>
            <a:ext cx="1187801" cy="21628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7F2F08-4E9C-BA80-7ACD-01EEEC90E345}"/>
              </a:ext>
            </a:extLst>
          </p:cNvPr>
          <p:cNvSpPr/>
          <p:nvPr/>
        </p:nvSpPr>
        <p:spPr>
          <a:xfrm>
            <a:off x="5512003" y="4762978"/>
            <a:ext cx="1187801" cy="21628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3FD3C2BE-9959-DEC2-4296-7380861354BE}"/>
              </a:ext>
            </a:extLst>
          </p:cNvPr>
          <p:cNvSpPr txBox="1">
            <a:spLocks/>
          </p:cNvSpPr>
          <p:nvPr/>
        </p:nvSpPr>
        <p:spPr>
          <a:xfrm>
            <a:off x="1005168" y="1576086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</a:rPr>
              <a:t>系统属性</a:t>
            </a:r>
            <a:endParaRPr lang="en-US" altLang="zh-CN" sz="140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53D2799F-6534-E8F9-0F5E-505CF6E905A1}"/>
              </a:ext>
            </a:extLst>
          </p:cNvPr>
          <p:cNvSpPr txBox="1">
            <a:spLocks/>
          </p:cNvSpPr>
          <p:nvPr/>
        </p:nvSpPr>
        <p:spPr>
          <a:xfrm>
            <a:off x="6442604" y="1594147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/>
                </a:solidFill>
              </a:rPr>
              <a:t>命令行参数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72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 </a:t>
            </a:r>
            <a:r>
              <a:rPr lang="zh-CN" altLang="en-US">
                <a:latin typeface="Fira Code" panose="020B0809050000020004" pitchFamily="49" charset="0"/>
              </a:rPr>
              <a:t>除了支持配置文件属性配置，还支持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系统属性</a:t>
            </a:r>
            <a:r>
              <a:rPr lang="zh-CN" altLang="en-US">
                <a:latin typeface="Fira Code" panose="020B0809050000020004" pitchFamily="49" charset="0"/>
              </a:rPr>
              <a:t>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命令行参数</a:t>
            </a:r>
            <a:r>
              <a:rPr lang="zh-CN" altLang="en-US">
                <a:latin typeface="Fira Code" panose="020B0809050000020004" pitchFamily="49" charset="0"/>
              </a:rPr>
              <a:t>的方式进行属性配置。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sp>
        <p:nvSpPr>
          <p:cNvPr id="2" name="!!MyService">
            <a:extLst>
              <a:ext uri="{FF2B5EF4-FFF2-40B4-BE49-F238E27FC236}">
                <a16:creationId xmlns:a16="http://schemas.microsoft.com/office/drawing/2014/main" id="{B34B431E-4C41-22B4-633A-835F2CE0D88E}"/>
              </a:ext>
            </a:extLst>
          </p:cNvPr>
          <p:cNvSpPr txBox="1"/>
          <p:nvPr/>
        </p:nvSpPr>
        <p:spPr>
          <a:xfrm>
            <a:off x="1105698" y="2045698"/>
            <a:ext cx="3548199" cy="3244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72000" bIns="36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-D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9000</a:t>
            </a:r>
            <a:endParaRPr lang="zh-CN" altLang="zh-CN" sz="2400"/>
          </a:p>
        </p:txBody>
      </p:sp>
      <p:sp>
        <p:nvSpPr>
          <p:cNvPr id="5" name="!!MyService">
            <a:extLst>
              <a:ext uri="{FF2B5EF4-FFF2-40B4-BE49-F238E27FC236}">
                <a16:creationId xmlns:a16="http://schemas.microsoft.com/office/drawing/2014/main" id="{F4E2531E-3AC6-7F63-D239-CBF1DF07554F}"/>
              </a:ext>
            </a:extLst>
          </p:cNvPr>
          <p:cNvSpPr txBox="1"/>
          <p:nvPr/>
        </p:nvSpPr>
        <p:spPr>
          <a:xfrm>
            <a:off x="6465615" y="2041703"/>
            <a:ext cx="3548199" cy="3608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72000" bIns="72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--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10010</a:t>
            </a:r>
            <a:endParaRPr lang="zh-CN" altLang="zh-CN" sz="24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DF3628A-DB39-5D76-9170-FD43AC7AFE2E}"/>
              </a:ext>
            </a:extLst>
          </p:cNvPr>
          <p:cNvSpPr txBox="1">
            <a:spLocks/>
          </p:cNvSpPr>
          <p:nvPr/>
        </p:nvSpPr>
        <p:spPr>
          <a:xfrm>
            <a:off x="949064" y="1576086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</a:rPr>
              <a:t>系统属性</a:t>
            </a:r>
            <a:endParaRPr lang="en-US" altLang="zh-CN" sz="140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6FBF744-4ECD-7A63-998E-2F8DFA18C34C}"/>
              </a:ext>
            </a:extLst>
          </p:cNvPr>
          <p:cNvSpPr txBox="1">
            <a:spLocks/>
          </p:cNvSpPr>
          <p:nvPr/>
        </p:nvSpPr>
        <p:spPr>
          <a:xfrm>
            <a:off x="6386500" y="1594147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/>
                </a:solidFill>
              </a:rPr>
              <a:t>命令行参数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" name="!!MyService">
            <a:extLst>
              <a:ext uri="{FF2B5EF4-FFF2-40B4-BE49-F238E27FC236}">
                <a16:creationId xmlns:a16="http://schemas.microsoft.com/office/drawing/2014/main" id="{46F2BC44-063A-7457-94DC-890B5B243385}"/>
              </a:ext>
            </a:extLst>
          </p:cNvPr>
          <p:cNvSpPr txBox="1"/>
          <p:nvPr/>
        </p:nvSpPr>
        <p:spPr>
          <a:xfrm>
            <a:off x="1113049" y="4232571"/>
            <a:ext cx="10210644" cy="4335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108000" bIns="108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java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02060"/>
                </a:solidFill>
                <a:ea typeface="Fira Code" panose="020B0809050000020004" pitchFamily="49" charset="0"/>
              </a:rPr>
              <a:t>-Dserver.port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9000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-jar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tlias-web-management-0.0.1-SNAPSHOT.jar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02060"/>
                </a:solidFill>
                <a:ea typeface="Fira Code" panose="020B0809050000020004" pitchFamily="49" charset="0"/>
              </a:rPr>
              <a:t>--server.port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10010</a:t>
            </a:r>
            <a:endParaRPr lang="zh-CN" altLang="zh-CN" sz="1400">
              <a:solidFill>
                <a:srgbClr val="1750EB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2617E7-0546-B13A-C409-7343DF276938}"/>
              </a:ext>
            </a:extLst>
          </p:cNvPr>
          <p:cNvSpPr txBox="1"/>
          <p:nvPr/>
        </p:nvSpPr>
        <p:spPr>
          <a:xfrm>
            <a:off x="830634" y="2939576"/>
            <a:ext cx="781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04000"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 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打包指令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package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4BF4E6-24F4-387F-AD95-0A0404A9B38E}"/>
              </a:ext>
            </a:extLst>
          </p:cNvPr>
          <p:cNvSpPr txBox="1"/>
          <p:nvPr/>
        </p:nvSpPr>
        <p:spPr>
          <a:xfrm>
            <a:off x="830634" y="3873452"/>
            <a:ext cx="781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04000"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 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指令，运行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3EBB114-0C8F-DCB5-AF50-CA490FF0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98" y="3331429"/>
            <a:ext cx="3686118" cy="38959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9C0368E-5631-BED5-F2E9-61B29C8D3DC3}"/>
              </a:ext>
            </a:extLst>
          </p:cNvPr>
          <p:cNvSpPr/>
          <p:nvPr/>
        </p:nvSpPr>
        <p:spPr>
          <a:xfrm>
            <a:off x="1115858" y="2045508"/>
            <a:ext cx="3540847" cy="32179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B3F046-7738-C3C9-123A-D6DBA4D6427C}"/>
              </a:ext>
            </a:extLst>
          </p:cNvPr>
          <p:cNvSpPr/>
          <p:nvPr/>
        </p:nvSpPr>
        <p:spPr>
          <a:xfrm>
            <a:off x="1689385" y="4239020"/>
            <a:ext cx="2046799" cy="423850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647C7-4C25-EC16-AA3D-60CDE14099A2}"/>
              </a:ext>
            </a:extLst>
          </p:cNvPr>
          <p:cNvSpPr/>
          <p:nvPr/>
        </p:nvSpPr>
        <p:spPr>
          <a:xfrm>
            <a:off x="8483811" y="4240023"/>
            <a:ext cx="2138394" cy="423850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51AAE8-5BC2-70C6-74C2-7BBC264896B6}"/>
              </a:ext>
            </a:extLst>
          </p:cNvPr>
          <p:cNvSpPr/>
          <p:nvPr/>
        </p:nvSpPr>
        <p:spPr>
          <a:xfrm>
            <a:off x="6468422" y="2046876"/>
            <a:ext cx="3548198" cy="354681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18653AE-ECBA-22F3-713B-0F88877D275E}"/>
              </a:ext>
            </a:extLst>
          </p:cNvPr>
          <p:cNvGrpSpPr/>
          <p:nvPr/>
        </p:nvGrpSpPr>
        <p:grpSpPr>
          <a:xfrm>
            <a:off x="949064" y="6073193"/>
            <a:ext cx="10289162" cy="448408"/>
            <a:chOff x="710879" y="5978768"/>
            <a:chExt cx="10289391" cy="4484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B9395E-A50A-D7A8-1B92-29CFEFA8732C}"/>
                </a:ext>
              </a:extLst>
            </p:cNvPr>
            <p:cNvSpPr/>
            <p:nvPr/>
          </p:nvSpPr>
          <p:spPr>
            <a:xfrm>
              <a:off x="710880" y="5978769"/>
              <a:ext cx="1028939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项目进行打包时，需要引入插件 </a:t>
              </a:r>
              <a:r>
                <a:rPr lang="en-US" altLang="zh-CN" sz="1200">
                  <a:solidFill>
                    <a:srgbClr val="C00000"/>
                  </a:solidFill>
                  <a:cs typeface="Alibaba PuHuiTi R" pitchFamily="18" charset="-122"/>
                </a:rPr>
                <a:t>spring-boot-maven-plugin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 (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基于官网骨架创建项目，会自动添加该插件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2C465054-047A-8037-D41E-9D258D37D6C9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Shape 2468">
              <a:extLst>
                <a:ext uri="{FF2B5EF4-FFF2-40B4-BE49-F238E27FC236}">
                  <a16:creationId xmlns:a16="http://schemas.microsoft.com/office/drawing/2014/main" id="{E38A584B-2EE7-A051-2EF0-7423071D87A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4049891-1EF6-FE11-89F1-6A4238765DAD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12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FFD1C63-78D6-154D-9E7E-985C34681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/>
              <a:t>SpringBoot</a:t>
            </a:r>
            <a:r>
              <a:rPr lang="zh-CN" altLang="en-US" sz="1800"/>
              <a:t>配置优先级</a:t>
            </a:r>
            <a:r>
              <a:rPr lang="zh-CN" altLang="en-US" sz="1800">
                <a:solidFill>
                  <a:srgbClr val="C00000"/>
                </a:solidFill>
              </a:rPr>
              <a:t>（低 </a:t>
            </a:r>
            <a:r>
              <a:rPr lang="en-US" altLang="zh-CN" sz="1800">
                <a:solidFill>
                  <a:srgbClr val="C00000"/>
                </a:solidFill>
                <a:ea typeface="Fira Code" panose="020B0809050000020004" pitchFamily="49" charset="0"/>
              </a:rPr>
              <a:t>-&gt; </a:t>
            </a:r>
            <a:r>
              <a:rPr lang="zh-CN" altLang="en-US" sz="1800">
                <a:solidFill>
                  <a:srgbClr val="C00000"/>
                </a:solidFill>
              </a:rPr>
              <a:t>高）</a:t>
            </a:r>
            <a:r>
              <a:rPr lang="zh-CN" altLang="en-US" sz="1800"/>
              <a:t>：</a:t>
            </a:r>
            <a:endParaRPr lang="en-US" altLang="zh-CN" sz="18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application.yaml</a:t>
            </a:r>
            <a:r>
              <a:rPr lang="zh-CN" altLang="en-US" sz="1400"/>
              <a:t>（忽略）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application.yml</a:t>
            </a: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application.properties</a:t>
            </a: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java</a:t>
            </a:r>
            <a:r>
              <a:rPr lang="zh-CN" altLang="en-US" sz="1400"/>
              <a:t>系统属性（</a:t>
            </a:r>
            <a:r>
              <a:rPr lang="en-US" altLang="zh-CN" sz="1400">
                <a:ea typeface="Fira Code" panose="020B0809050000020004" pitchFamily="49" charset="0"/>
              </a:rPr>
              <a:t>-Dxxx=xxx</a:t>
            </a:r>
            <a:r>
              <a:rPr lang="zh-CN" altLang="en-US" sz="1400"/>
              <a:t>）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/>
              <a:t>命令行参数（</a:t>
            </a:r>
            <a:r>
              <a:rPr lang="en-US" altLang="zh-CN" sz="1400">
                <a:ea typeface="Fira Code" panose="020B0809050000020004" pitchFamily="49" charset="0"/>
              </a:rPr>
              <a:t>--xxx=xxx</a:t>
            </a:r>
            <a:r>
              <a:rPr lang="zh-CN" altLang="en-US" sz="1400"/>
              <a:t>）</a:t>
            </a:r>
            <a:endParaRPr lang="en-US" altLang="zh-CN" sz="1400"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0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Bean</a:t>
            </a:r>
            <a:r>
              <a:rPr lang="zh-CN" altLang="en-US">
                <a:solidFill>
                  <a:srgbClr val="C00000"/>
                </a:solidFill>
              </a:rPr>
              <a:t>管理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155337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5ECE06-F4DF-B492-2107-8B133C403D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管理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389CE2-EE23-B3A1-5C0F-0CA10B802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的作用域</a:t>
            </a:r>
            <a:endParaRPr lang="en-US" altLang="zh-CN"/>
          </a:p>
          <a:p>
            <a:r>
              <a:rPr lang="zh-CN" altLang="en-US"/>
              <a:t>第三方</a:t>
            </a:r>
            <a:r>
              <a:rPr lang="en-US" altLang="zh-CN"/>
              <a:t>Bean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33101E2-7EE0-2D45-ECB2-2D2AD88691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32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latin typeface="Fira Code" panose="020B0809050000020004" pitchFamily="49" charset="0"/>
              </a:rPr>
              <a:t>支持五种作用域，后三种在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web</a:t>
            </a:r>
            <a:r>
              <a:rPr lang="zh-CN" altLang="en-US">
                <a:latin typeface="Fira Code" panose="020B0809050000020004" pitchFamily="49" charset="0"/>
              </a:rPr>
              <a:t>环境才生效：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作用域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40CF5AD-FB90-10A5-32C5-98DA8C6F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01699"/>
              </p:ext>
            </p:extLst>
          </p:nvPr>
        </p:nvGraphicFramePr>
        <p:xfrm>
          <a:off x="929397" y="1576086"/>
          <a:ext cx="6807143" cy="2448000"/>
        </p:xfrm>
        <a:graphic>
          <a:graphicData uri="http://schemas.openxmlformats.org/drawingml/2006/table">
            <a:tbl>
              <a:tblPr/>
              <a:tblGrid>
                <a:gridCol w="190828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898855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6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作用域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A06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A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singleton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容器内同 名称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 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bean 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只有一个实例（单例）（默认）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prototype</a:t>
                      </a:r>
                      <a:endParaRPr kumimoji="0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每次使用该 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bean 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时会创建新的实例（非单例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多例）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request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每个请求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范围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内会创建新的实例（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session</a:t>
                      </a:r>
                      <a:endParaRPr kumimoji="0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每个会话范围内会创建新的实例（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  <a:endParaRPr kumimoji="0" lang="en-US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application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每个应用范围内会创建新的实例（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2D66B2E-A9D9-CEBF-8AE6-B8ACCBA1B224}"/>
              </a:ext>
            </a:extLst>
          </p:cNvPr>
          <p:cNvGrpSpPr/>
          <p:nvPr/>
        </p:nvGrpSpPr>
        <p:grpSpPr>
          <a:xfrm>
            <a:off x="7929219" y="1576086"/>
            <a:ext cx="3859369" cy="1970223"/>
            <a:chOff x="2297722" y="3660322"/>
            <a:chExt cx="4252308" cy="197033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2C5D077-837B-14FC-CF09-AEF5DF2C2B1E}"/>
                </a:ext>
              </a:extLst>
            </p:cNvPr>
            <p:cNvSpPr/>
            <p:nvPr/>
          </p:nvSpPr>
          <p:spPr>
            <a:xfrm>
              <a:off x="2297726" y="3660325"/>
              <a:ext cx="4252304" cy="1970335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@Scope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"prototype"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@RequestMapping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@RestController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DeptController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</a:rPr>
                <a:t>}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3E34FD76-B334-BCCE-7313-B5A0B63F03D6}"/>
                </a:ext>
              </a:extLst>
            </p:cNvPr>
            <p:cNvSpPr/>
            <p:nvPr/>
          </p:nvSpPr>
          <p:spPr>
            <a:xfrm>
              <a:off x="2297722" y="3660322"/>
              <a:ext cx="425230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70A6AF6-04F2-4CEE-357B-B5ACDED9B28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A0F28C8-DEBE-A025-94E6-A55695F71E4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E83C724-393C-A940-D3C3-7A10241080B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9CA77B7-8783-E298-5074-B1A43250E463}"/>
              </a:ext>
            </a:extLst>
          </p:cNvPr>
          <p:cNvSpPr/>
          <p:nvPr/>
        </p:nvSpPr>
        <p:spPr>
          <a:xfrm>
            <a:off x="7929219" y="1951042"/>
            <a:ext cx="3859365" cy="312565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FBBCE0-9B3A-22DF-4E06-346EEA271ED1}"/>
              </a:ext>
            </a:extLst>
          </p:cNvPr>
          <p:cNvGrpSpPr/>
          <p:nvPr/>
        </p:nvGrpSpPr>
        <p:grpSpPr>
          <a:xfrm>
            <a:off x="916084" y="5761125"/>
            <a:ext cx="10500597" cy="440139"/>
            <a:chOff x="710879" y="5978768"/>
            <a:chExt cx="10633916" cy="4484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F2C24E3-D868-CC0D-0B86-4C8D307DD198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默认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singleton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，在容器启动时被创建，可以使用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@Lazy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注解来延迟初始化（延迟到第一次使用时）。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06F7ABEA-9AF1-24D2-21DD-C03C8E2FB800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Shape 2468">
              <a:extLst>
                <a:ext uri="{FF2B5EF4-FFF2-40B4-BE49-F238E27FC236}">
                  <a16:creationId xmlns:a16="http://schemas.microsoft.com/office/drawing/2014/main" id="{6BB6EAF5-B5A5-5D5E-79CE-38B6DF0AB35A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91BF8C5-84F2-9B24-05CB-6C634A81D947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</a:t>
              </a:r>
              <a:r>
                <a:rPr lang="en-US" altLang="zh-CN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1</a:t>
              </a: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C9288BD-8400-F5B7-ED63-6A5BDA114A5C}"/>
              </a:ext>
            </a:extLst>
          </p:cNvPr>
          <p:cNvGrpSpPr/>
          <p:nvPr/>
        </p:nvGrpSpPr>
        <p:grpSpPr>
          <a:xfrm>
            <a:off x="929398" y="6321651"/>
            <a:ext cx="10500597" cy="440136"/>
            <a:chOff x="710879" y="5978768"/>
            <a:chExt cx="10633918" cy="448408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A88278DB-FAA4-10C8-FFA7-C105CA1080D0}"/>
                </a:ext>
              </a:extLst>
            </p:cNvPr>
            <p:cNvSpPr/>
            <p:nvPr/>
          </p:nvSpPr>
          <p:spPr>
            <a:xfrm>
              <a:off x="710880" y="5978769"/>
              <a:ext cx="10633917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实际开发当中，绝大部分的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是单例的，也就是说绝大部分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不需要配置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scope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属性。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83A689D4-DC72-F48D-FE4C-61BEA38A513C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Shape 2468">
              <a:extLst>
                <a:ext uri="{FF2B5EF4-FFF2-40B4-BE49-F238E27FC236}">
                  <a16:creationId xmlns:a16="http://schemas.microsoft.com/office/drawing/2014/main" id="{759ECBA4-75C8-8EBD-3C4F-A0CCD993D19D}"/>
                </a:ext>
              </a:extLst>
            </p:cNvPr>
            <p:cNvSpPr/>
            <p:nvPr/>
          </p:nvSpPr>
          <p:spPr>
            <a:xfrm>
              <a:off x="863425" y="6084881"/>
              <a:ext cx="226469" cy="196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E221CE9-085A-A2DE-4E27-2562003E0135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</a:t>
              </a:r>
              <a:r>
                <a:rPr lang="en-US" altLang="zh-CN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2</a:t>
              </a: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596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5ECE06-F4DF-B492-2107-8B133C403D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管理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389CE2-EE23-B3A1-5C0F-0CA10B802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的作用域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第三方</a:t>
            </a:r>
            <a:r>
              <a:rPr lang="en-US" altLang="zh-CN">
                <a:solidFill>
                  <a:srgbClr val="C00000"/>
                </a:solidFill>
              </a:rPr>
              <a:t>Bean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33101E2-7EE0-2D45-ECB2-2D2AD88691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1EE64-FE1C-BCA1-F8BC-384671C66F1C}"/>
              </a:ext>
            </a:extLst>
          </p:cNvPr>
          <p:cNvSpPr txBox="1"/>
          <p:nvPr/>
        </p:nvSpPr>
        <p:spPr>
          <a:xfrm>
            <a:off x="8587728" y="3429000"/>
            <a:ext cx="165295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@Component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@Controller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@Service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@Repository</a:t>
            </a:r>
            <a:endParaRPr lang="zh-CN" altLang="en-US" sz="1600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31183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如果要管理的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对象来自于第三方（不是自定义的），是无法用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@Component </a:t>
            </a:r>
            <a:r>
              <a:rPr lang="zh-CN" altLang="en-US" sz="1600">
                <a:latin typeface="Fira Code" panose="020B0809050000020004" pitchFamily="49" charset="0"/>
              </a:rPr>
              <a:t>及衍生注解声明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的，就需要用到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@Bean</a:t>
            </a:r>
            <a:r>
              <a:rPr lang="zh-CN" altLang="en-US" sz="1600">
                <a:latin typeface="Fira Code" panose="020B0809050000020004" pitchFamily="49" charset="0"/>
              </a:rPr>
              <a:t>注解。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若要管理的第三方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对象，建议对这些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进行集中分类配置，可以通过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@Configuration</a:t>
            </a:r>
            <a:r>
              <a:rPr lang="zh-CN" altLang="en-US" sz="1600">
                <a:latin typeface="Fira Code" panose="020B0809050000020004" pitchFamily="49" charset="0"/>
              </a:rPr>
              <a:t>注解声明一个配置类。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第三方</a:t>
            </a:r>
            <a:r>
              <a:rPr lang="en-US" altLang="zh-CN"/>
              <a:t>Bean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3AC81C9-EF63-9EBA-4F13-44EB33FA1A24}"/>
              </a:ext>
            </a:extLst>
          </p:cNvPr>
          <p:cNvGrpSpPr/>
          <p:nvPr/>
        </p:nvGrpSpPr>
        <p:grpSpPr>
          <a:xfrm>
            <a:off x="936749" y="2263953"/>
            <a:ext cx="7785911" cy="2083006"/>
            <a:chOff x="2297722" y="3660322"/>
            <a:chExt cx="8578629" cy="208312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6AFB6EF-2661-7965-1AB9-482A1BAE3015}"/>
                </a:ext>
              </a:extLst>
            </p:cNvPr>
            <p:cNvSpPr/>
            <p:nvPr/>
          </p:nvSpPr>
          <p:spPr>
            <a:xfrm>
              <a:off x="2297728" y="3660326"/>
              <a:ext cx="8578623" cy="2083124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1100">
                  <a:solidFill>
                    <a:srgbClr val="9E880D"/>
                  </a:solidFill>
                  <a:cs typeface="Courier New" panose="02070309020205020404" pitchFamily="49" charset="0"/>
                </a:rPr>
                <a:t>@SpringBootApplication</a:t>
              </a:r>
              <a:br>
                <a:rPr lang="zh-CN" altLang="zh-CN" sz="1100">
                  <a:solidFill>
                    <a:srgbClr val="9E880D"/>
                  </a:solidFill>
                  <a:cs typeface="Courier New" panose="02070309020205020404" pitchFamily="49" charset="0"/>
                </a:rPr>
              </a:br>
              <a:r>
                <a:rPr lang="zh-CN" altLang="zh-CN" sz="1100">
                  <a:solidFill>
                    <a:srgbClr val="0033B3"/>
                  </a:solidFill>
                  <a:cs typeface="Courier New" panose="02070309020205020404" pitchFamily="49" charset="0"/>
                </a:rPr>
                <a:t>public class </a:t>
              </a:r>
              <a:r>
                <a:rPr lang="zh-CN" altLang="zh-CN" sz="1100">
                  <a:solidFill>
                    <a:srgbClr val="000000"/>
                  </a:solidFill>
                  <a:cs typeface="Courier New" panose="02070309020205020404" pitchFamily="49" charset="0"/>
                </a:rPr>
                <a:t>SpringbootWebConfigApplication </a:t>
              </a:r>
              <a:r>
                <a:rPr lang="zh-CN" altLang="zh-CN" sz="1100">
                  <a:solidFill>
                    <a:srgbClr val="080808"/>
                  </a:solidFill>
                  <a:cs typeface="Courier New" panose="02070309020205020404" pitchFamily="49" charset="0"/>
                </a:rPr>
                <a:t>{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@Bean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将方法返回值交给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IOC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容器管理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成为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IOC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容器的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bean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aliyunOSSOperator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AliyunOSSProperties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AliyunOSSOperator(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7B7DCD7-DD69-F80C-C230-E72C8E0F8CB7}"/>
                </a:ext>
              </a:extLst>
            </p:cNvPr>
            <p:cNvSpPr/>
            <p:nvPr/>
          </p:nvSpPr>
          <p:spPr>
            <a:xfrm>
              <a:off x="2297722" y="3660322"/>
              <a:ext cx="857862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启动类（不推荐）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A4CE275-3B63-70B0-6EA4-5F23535B9B1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375D9D9-585E-A4E4-1F8C-FA3F48EF4D3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91B5AAA-B839-EEC8-A374-0ACAA9BF512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ACA8147-5760-95DB-3707-AC7002116EE6}"/>
              </a:ext>
            </a:extLst>
          </p:cNvPr>
          <p:cNvGrpSpPr/>
          <p:nvPr/>
        </p:nvGrpSpPr>
        <p:grpSpPr>
          <a:xfrm>
            <a:off x="3651435" y="3575787"/>
            <a:ext cx="7785906" cy="2078887"/>
            <a:chOff x="2297722" y="3660322"/>
            <a:chExt cx="8578623" cy="20790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8A513A3-F70E-C507-529A-03D4B2749268}"/>
                </a:ext>
              </a:extLst>
            </p:cNvPr>
            <p:cNvSpPr/>
            <p:nvPr/>
          </p:nvSpPr>
          <p:spPr>
            <a:xfrm>
              <a:off x="2297726" y="3660325"/>
              <a:ext cx="8578619" cy="2079005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@Configuration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OSSConfig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@Bean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aliyunOSSOperator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AliyunOSSProperties ossProperties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AliyunOSSOperator(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065EC03B-911E-86C5-E0D7-43D6ABA311FF}"/>
                </a:ext>
              </a:extLst>
            </p:cNvPr>
            <p:cNvSpPr/>
            <p:nvPr/>
          </p:nvSpPr>
          <p:spPr>
            <a:xfrm>
              <a:off x="2297722" y="3660322"/>
              <a:ext cx="857861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配置类（推荐）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F46B338-0092-8BD0-D3DC-9AD1398228A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6FCC1CF-4AE6-1928-9519-FC7D18CAA96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2BB55E1-C1A1-EA1D-1A52-959A35836A6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D7BCE8D-3EAD-65EF-D450-FD11E09F9FBC}"/>
              </a:ext>
            </a:extLst>
          </p:cNvPr>
          <p:cNvGrpSpPr/>
          <p:nvPr/>
        </p:nvGrpSpPr>
        <p:grpSpPr>
          <a:xfrm>
            <a:off x="936744" y="6301600"/>
            <a:ext cx="10500597" cy="440139"/>
            <a:chOff x="710879" y="5978768"/>
            <a:chExt cx="10633916" cy="4484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D4DEA56-934F-599B-5BF9-6E4384D33989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通过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@Bean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注解的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name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或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value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属性可以声明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的名称，如果不指定，默认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的名称就是方法名。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D6C878A5-B4FB-38D4-4A05-B730D4447C24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Shape 2468">
              <a:extLst>
                <a:ext uri="{FF2B5EF4-FFF2-40B4-BE49-F238E27FC236}">
                  <a16:creationId xmlns:a16="http://schemas.microsoft.com/office/drawing/2014/main" id="{A74D73CE-26DA-0101-EC94-BC0CD0F14600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A8AE25E-3AE8-5367-1352-B7191D3038D2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D66863-661B-FC8D-2114-28FCB925E47B}"/>
              </a:ext>
            </a:extLst>
          </p:cNvPr>
          <p:cNvGrpSpPr/>
          <p:nvPr/>
        </p:nvGrpSpPr>
        <p:grpSpPr>
          <a:xfrm>
            <a:off x="936745" y="5822256"/>
            <a:ext cx="10500597" cy="440139"/>
            <a:chOff x="710879" y="5978768"/>
            <a:chExt cx="10633916" cy="448408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956FB42-ADD6-E29C-F13A-04E95D797929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如果第三方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需要依赖其它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对象，直接在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定义方法中设置形参即可，容器会根据类型自动装配。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EC4A6666-A796-6883-7292-FD64B2A881B3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Shape 2468">
              <a:extLst>
                <a:ext uri="{FF2B5EF4-FFF2-40B4-BE49-F238E27FC236}">
                  <a16:creationId xmlns:a16="http://schemas.microsoft.com/office/drawing/2014/main" id="{D4BC01A2-ABA5-648B-5D12-473F8328B807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2212D11-8B5B-8012-0E14-753A7ECB206F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6CF35CC8-192B-B720-17E4-E4178FD5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694" y="2298228"/>
            <a:ext cx="667501" cy="20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2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525354A-E90A-6FB5-06A9-BCE95FBEC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8421" y="1350547"/>
            <a:ext cx="7845473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什么时候使用</a:t>
            </a:r>
            <a:r>
              <a:rPr lang="en-US" altLang="zh-CN" sz="1800"/>
              <a:t>@Component</a:t>
            </a:r>
            <a:r>
              <a:rPr lang="zh-CN" altLang="en-US" sz="1800"/>
              <a:t>声明</a:t>
            </a:r>
            <a:r>
              <a:rPr lang="en-US" altLang="zh-CN" sz="1800"/>
              <a:t>bean</a:t>
            </a:r>
            <a:r>
              <a:rPr lang="zh-CN" altLang="en-US" sz="1800"/>
              <a:t>，什么时候使用</a:t>
            </a:r>
            <a:r>
              <a:rPr lang="en-US" altLang="zh-CN" sz="1800"/>
              <a:t>@Bean</a:t>
            </a:r>
            <a:r>
              <a:rPr lang="zh-CN" altLang="en-US" sz="1800"/>
              <a:t>注解？</a:t>
            </a:r>
            <a:endParaRPr lang="en-US" altLang="zh-CN" sz="1800"/>
          </a:p>
          <a:p>
            <a:pPr marL="648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一般如果是项目中自定义的类，使用</a:t>
            </a:r>
            <a:r>
              <a:rPr lang="en-US" altLang="zh-CN" sz="1400"/>
              <a:t>@Component</a:t>
            </a:r>
            <a:r>
              <a:rPr lang="zh-CN" altLang="en-US" sz="1400"/>
              <a:t>及其衍生注解</a:t>
            </a:r>
            <a:endParaRPr lang="en-US" altLang="zh-CN" sz="1400"/>
          </a:p>
          <a:p>
            <a:pPr marL="648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如果是引入第三方依赖中的类，使用</a:t>
            </a:r>
            <a:r>
              <a:rPr lang="en-US" altLang="zh-CN" sz="1400"/>
              <a:t>@Bean</a:t>
            </a:r>
            <a:r>
              <a:rPr lang="zh-CN" altLang="en-US" sz="1400"/>
              <a:t>注解</a:t>
            </a:r>
          </a:p>
        </p:txBody>
      </p:sp>
    </p:spTree>
    <p:extLst>
      <p:ext uri="{BB962C8B-B14F-4D97-AF65-F5344CB8AC3E}">
        <p14:creationId xmlns:p14="http://schemas.microsoft.com/office/powerpoint/2010/main" val="156609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/>
              <a:t>Bean</a:t>
            </a:r>
            <a:r>
              <a:rPr lang="zh-CN" altLang="en-US"/>
              <a:t>管理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1477388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2478E7-C359-380A-FB97-87EB4F5E8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4" y="2469081"/>
            <a:ext cx="3720117" cy="901700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0782B8-1E79-717F-7790-9D19F37243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2984AE-462A-BD63-FDF4-24A32CDFFA3F}"/>
              </a:ext>
            </a:extLst>
          </p:cNvPr>
          <p:cNvSpPr txBox="1"/>
          <p:nvPr/>
        </p:nvSpPr>
        <p:spPr>
          <a:xfrm>
            <a:off x="7671173" y="33707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熟练使用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5CAC15-CC5D-6D56-2AC7-419122D8E18F}"/>
              </a:ext>
            </a:extLst>
          </p:cNvPr>
          <p:cNvSpPr txBox="1"/>
          <p:nvPr/>
        </p:nvSpPr>
        <p:spPr>
          <a:xfrm>
            <a:off x="7671173" y="480099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面试高频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F1AE79-0DE9-1809-1425-5554A1097505}"/>
              </a:ext>
            </a:extLst>
          </p:cNvPr>
          <p:cNvSpPr txBox="1"/>
          <p:nvPr/>
        </p:nvSpPr>
        <p:spPr>
          <a:xfrm>
            <a:off x="7671173" y="40858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汲取思想</a:t>
            </a:r>
          </a:p>
        </p:txBody>
      </p:sp>
      <p:pic>
        <p:nvPicPr>
          <p:cNvPr id="9" name="图片 8" descr="卡通画&#10;&#10;描述已自动生成">
            <a:extLst>
              <a:ext uri="{FF2B5EF4-FFF2-40B4-BE49-F238E27FC236}">
                <a16:creationId xmlns:a16="http://schemas.microsoft.com/office/drawing/2014/main" id="{C5ACEBFF-62AB-37A2-002F-FFC391AE3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482" y="4653817"/>
            <a:ext cx="981597" cy="75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4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核心</a:t>
            </a:r>
          </a:p>
        </p:txBody>
      </p:sp>
      <p:pic>
        <p:nvPicPr>
          <p:cNvPr id="2" name="!!图片 4">
            <a:extLst>
              <a:ext uri="{FF2B5EF4-FFF2-40B4-BE49-F238E27FC236}">
                <a16:creationId xmlns:a16="http://schemas.microsoft.com/office/drawing/2014/main" id="{32AF6AA3-3C1F-6688-FECC-F8394BF5B2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9" t="1751" r="1521" b="2574"/>
          <a:stretch/>
        </p:blipFill>
        <p:spPr>
          <a:xfrm>
            <a:off x="6325569" y="2568069"/>
            <a:ext cx="4471305" cy="2545301"/>
          </a:xfrm>
          <a:prstGeom prst="roundRect">
            <a:avLst>
              <a:gd name="adj" fmla="val 3283"/>
            </a:avLst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FA9E52-A9BA-E490-667C-92F654424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26" y="2568069"/>
            <a:ext cx="4381880" cy="2545301"/>
          </a:xfrm>
          <a:prstGeom prst="roundRect">
            <a:avLst>
              <a:gd name="adj" fmla="val 2931"/>
            </a:avLst>
          </a:prstGeom>
        </p:spPr>
      </p:pic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7BD77383-4D13-F58D-12F0-EFDDDF5A8E0A}"/>
              </a:ext>
            </a:extLst>
          </p:cNvPr>
          <p:cNvSpPr/>
          <p:nvPr/>
        </p:nvSpPr>
        <p:spPr>
          <a:xfrm>
            <a:off x="4096139" y="4599994"/>
            <a:ext cx="1597967" cy="447869"/>
          </a:xfrm>
          <a:prstGeom prst="round2Diag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繁琐</a:t>
            </a:r>
            <a:r>
              <a:rPr lang="en-US" altLang="zh-CN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依赖、配置</a:t>
            </a:r>
            <a:r>
              <a:rPr lang="en-US" altLang="zh-CN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1A706CE4-BF93-65BE-89CE-06A5DB3E4DDF}"/>
              </a:ext>
            </a:extLst>
          </p:cNvPr>
          <p:cNvSpPr/>
          <p:nvPr/>
        </p:nvSpPr>
        <p:spPr>
          <a:xfrm>
            <a:off x="9141046" y="4599993"/>
            <a:ext cx="1597967" cy="447869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简单、快捷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DB66F8-0EC8-933E-CB00-6883404DA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D2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331D18-7BA4-D153-CD93-F1463D379F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9"/>
          <a:stretch/>
        </p:blipFill>
        <p:spPr>
          <a:xfrm>
            <a:off x="909320" y="0"/>
            <a:ext cx="10501310" cy="150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1.66667E-6 -1.19629 " pathEditMode="relative" rAng="0" ptsTypes="AA">
                                      <p:cBhvr>
                                        <p:cTn id="4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核心</a:t>
            </a:r>
          </a:p>
        </p:txBody>
      </p:sp>
      <p:pic>
        <p:nvPicPr>
          <p:cNvPr id="2" name="!!图片 4">
            <a:extLst>
              <a:ext uri="{FF2B5EF4-FFF2-40B4-BE49-F238E27FC236}">
                <a16:creationId xmlns:a16="http://schemas.microsoft.com/office/drawing/2014/main" id="{F4CB1E5C-8E93-AB98-2983-98CDF04FA6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9" t="1751" r="1521" b="2574"/>
          <a:stretch/>
        </p:blipFill>
        <p:spPr>
          <a:xfrm>
            <a:off x="3470402" y="2241498"/>
            <a:ext cx="4471305" cy="2545301"/>
          </a:xfrm>
          <a:prstGeom prst="roundRect">
            <a:avLst>
              <a:gd name="adj" fmla="val 2227"/>
            </a:avLst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C3AF890-533A-61C6-26FD-3B526AC9C42F}"/>
              </a:ext>
            </a:extLst>
          </p:cNvPr>
          <p:cNvGrpSpPr/>
          <p:nvPr/>
        </p:nvGrpSpPr>
        <p:grpSpPr>
          <a:xfrm>
            <a:off x="3539412" y="4170783"/>
            <a:ext cx="1586204" cy="541175"/>
            <a:chOff x="3539412" y="4170783"/>
            <a:chExt cx="1586204" cy="541175"/>
          </a:xfrm>
        </p:grpSpPr>
        <p:sp>
          <p:nvSpPr>
            <p:cNvPr id="6" name="矩形: 对角圆角 5">
              <a:extLst>
                <a:ext uri="{FF2B5EF4-FFF2-40B4-BE49-F238E27FC236}">
                  <a16:creationId xmlns:a16="http://schemas.microsoft.com/office/drawing/2014/main" id="{60A9F582-D028-9918-A313-8F0598E9BEC6}"/>
                </a:ext>
              </a:extLst>
            </p:cNvPr>
            <p:cNvSpPr/>
            <p:nvPr/>
          </p:nvSpPr>
          <p:spPr>
            <a:xfrm>
              <a:off x="3539412" y="4170783"/>
              <a:ext cx="1586204" cy="541175"/>
            </a:xfrm>
            <a:prstGeom prst="round2DiagRect">
              <a:avLst>
                <a:gd name="adj1" fmla="val 0"/>
                <a:gd name="adj2" fmla="val 862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</a:t>
              </a:r>
            </a:p>
          </p:txBody>
        </p:sp>
        <p:sp>
          <p:nvSpPr>
            <p:cNvPr id="7" name="Shape 2627">
              <a:extLst>
                <a:ext uri="{FF2B5EF4-FFF2-40B4-BE49-F238E27FC236}">
                  <a16:creationId xmlns:a16="http://schemas.microsoft.com/office/drawing/2014/main" id="{F8B66FF6-AA41-30C2-8406-E21A1CC552EA}"/>
                </a:ext>
              </a:extLst>
            </p:cNvPr>
            <p:cNvSpPr/>
            <p:nvPr/>
          </p:nvSpPr>
          <p:spPr>
            <a:xfrm>
              <a:off x="3686884" y="4256808"/>
              <a:ext cx="327888" cy="327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BEFE32-0E12-3D2D-4CED-72C8284E6ABD}"/>
              </a:ext>
            </a:extLst>
          </p:cNvPr>
          <p:cNvGrpSpPr/>
          <p:nvPr/>
        </p:nvGrpSpPr>
        <p:grpSpPr>
          <a:xfrm>
            <a:off x="6288832" y="4170784"/>
            <a:ext cx="1586204" cy="541175"/>
            <a:chOff x="6288832" y="4170784"/>
            <a:chExt cx="1586204" cy="541175"/>
          </a:xfrm>
        </p:grpSpPr>
        <p:sp>
          <p:nvSpPr>
            <p:cNvPr id="9" name="矩形: 对角圆角 8">
              <a:extLst>
                <a:ext uri="{FF2B5EF4-FFF2-40B4-BE49-F238E27FC236}">
                  <a16:creationId xmlns:a16="http://schemas.microsoft.com/office/drawing/2014/main" id="{20FCA80A-857B-145F-D3DF-2222F15BD753}"/>
                </a:ext>
              </a:extLst>
            </p:cNvPr>
            <p:cNvSpPr/>
            <p:nvPr/>
          </p:nvSpPr>
          <p:spPr>
            <a:xfrm>
              <a:off x="6288832" y="4170784"/>
              <a:ext cx="1586204" cy="541175"/>
            </a:xfrm>
            <a:prstGeom prst="round2DiagRect">
              <a:avLst>
                <a:gd name="adj1" fmla="val 11495"/>
                <a:gd name="adj2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</a:t>
              </a:r>
            </a:p>
          </p:txBody>
        </p:sp>
        <p:sp>
          <p:nvSpPr>
            <p:cNvPr id="10" name="Shape 2434">
              <a:extLst>
                <a:ext uri="{FF2B5EF4-FFF2-40B4-BE49-F238E27FC236}">
                  <a16:creationId xmlns:a16="http://schemas.microsoft.com/office/drawing/2014/main" id="{CD937CFD-19A5-956E-B38B-27F00798D0B7}"/>
                </a:ext>
              </a:extLst>
            </p:cNvPr>
            <p:cNvSpPr/>
            <p:nvPr/>
          </p:nvSpPr>
          <p:spPr>
            <a:xfrm>
              <a:off x="6412054" y="4256808"/>
              <a:ext cx="372720" cy="372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727"/>
                  </a:moveTo>
                  <a:cubicBezTo>
                    <a:pt x="8631" y="14727"/>
                    <a:pt x="6873" y="12969"/>
                    <a:pt x="6873" y="10800"/>
                  </a:cubicBezTo>
                  <a:cubicBezTo>
                    <a:pt x="6873" y="8631"/>
                    <a:pt x="8631" y="6873"/>
                    <a:pt x="10800" y="6873"/>
                  </a:cubicBezTo>
                  <a:cubicBezTo>
                    <a:pt x="12969" y="6873"/>
                    <a:pt x="14727" y="8631"/>
                    <a:pt x="14727" y="10800"/>
                  </a:cubicBezTo>
                  <a:cubicBezTo>
                    <a:pt x="14727" y="12969"/>
                    <a:pt x="12969" y="14727"/>
                    <a:pt x="10800" y="14727"/>
                  </a:cubicBezTo>
                  <a:moveTo>
                    <a:pt x="10800" y="5891"/>
                  </a:moveTo>
                  <a:cubicBezTo>
                    <a:pt x="8088" y="5891"/>
                    <a:pt x="5891" y="8089"/>
                    <a:pt x="5891" y="10800"/>
                  </a:cubicBezTo>
                  <a:cubicBezTo>
                    <a:pt x="5891" y="13512"/>
                    <a:pt x="8088" y="15709"/>
                    <a:pt x="10800" y="15709"/>
                  </a:cubicBezTo>
                  <a:cubicBezTo>
                    <a:pt x="13512" y="15709"/>
                    <a:pt x="15709" y="13512"/>
                    <a:pt x="15709" y="10800"/>
                  </a:cubicBezTo>
                  <a:cubicBezTo>
                    <a:pt x="15709" y="8089"/>
                    <a:pt x="13512" y="5891"/>
                    <a:pt x="10800" y="5891"/>
                  </a:cubicBezTo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6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2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7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1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4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6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6"/>
                    <a:pt x="2616" y="8979"/>
                    <a:pt x="2708" y="8634"/>
                  </a:cubicBezTo>
                  <a:cubicBezTo>
                    <a:pt x="2897" y="7928"/>
                    <a:pt x="3179" y="7249"/>
                    <a:pt x="3548" y="6615"/>
                  </a:cubicBezTo>
                  <a:cubicBezTo>
                    <a:pt x="3727" y="6305"/>
                    <a:pt x="3724" y="5923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5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6"/>
                    <a:pt x="5951" y="3683"/>
                    <a:pt x="6127" y="3683"/>
                  </a:cubicBezTo>
                  <a:cubicBezTo>
                    <a:pt x="6296" y="3683"/>
                    <a:pt x="6465" y="3639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39"/>
                    <a:pt x="15304" y="3683"/>
                    <a:pt x="15473" y="3683"/>
                  </a:cubicBezTo>
                  <a:cubicBezTo>
                    <a:pt x="15648" y="3683"/>
                    <a:pt x="15822" y="3636"/>
                    <a:pt x="15978" y="3544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6"/>
                  </a:lnTo>
                  <a:cubicBezTo>
                    <a:pt x="17876" y="5923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6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0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5"/>
                  </a:lnTo>
                  <a:cubicBezTo>
                    <a:pt x="17292" y="2018"/>
                    <a:pt x="17136" y="1969"/>
                    <a:pt x="16975" y="1969"/>
                  </a:cubicBezTo>
                  <a:cubicBezTo>
                    <a:pt x="16778" y="1969"/>
                    <a:pt x="16572" y="2043"/>
                    <a:pt x="16400" y="2145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5"/>
                  </a:lnTo>
                  <a:cubicBezTo>
                    <a:pt x="5028" y="2043"/>
                    <a:pt x="4822" y="1969"/>
                    <a:pt x="4625" y="1969"/>
                  </a:cubicBezTo>
                  <a:cubicBezTo>
                    <a:pt x="4464" y="1969"/>
                    <a:pt x="4308" y="2018"/>
                    <a:pt x="4181" y="2145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0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0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8"/>
                  </a:cubicBezTo>
                  <a:lnTo>
                    <a:pt x="2145" y="16400"/>
                  </a:lnTo>
                  <a:cubicBezTo>
                    <a:pt x="1959" y="16714"/>
                    <a:pt x="1864" y="17137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2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2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7"/>
                    <a:pt x="19641" y="16714"/>
                    <a:pt x="19455" y="16400"/>
                  </a:cubicBezTo>
                  <a:lnTo>
                    <a:pt x="18902" y="15478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0"/>
                  </a:lnTo>
                  <a:cubicBezTo>
                    <a:pt x="21600" y="8963"/>
                    <a:pt x="21233" y="8730"/>
                    <a:pt x="20880" y="8641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</p:grpSp>
      <p:sp>
        <p:nvSpPr>
          <p:cNvPr id="11" name="!!文本框 1">
            <a:extLst>
              <a:ext uri="{FF2B5EF4-FFF2-40B4-BE49-F238E27FC236}">
                <a16:creationId xmlns:a16="http://schemas.microsoft.com/office/drawing/2014/main" id="{4DEB35FF-72BF-4423-A7FA-CCFFA2CBCA59}"/>
              </a:ext>
            </a:extLst>
          </p:cNvPr>
          <p:cNvSpPr txBox="1"/>
          <p:nvPr/>
        </p:nvSpPr>
        <p:spPr>
          <a:xfrm>
            <a:off x="4057879" y="4256808"/>
            <a:ext cx="1004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起步依赖</a:t>
            </a:r>
            <a:endParaRPr lang="zh-CN" altLang="en-US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!!文本框 2">
            <a:extLst>
              <a:ext uri="{FF2B5EF4-FFF2-40B4-BE49-F238E27FC236}">
                <a16:creationId xmlns:a16="http://schemas.microsoft.com/office/drawing/2014/main" id="{6F357428-BD61-4526-86F6-5C3D0621C4BE}"/>
              </a:ext>
            </a:extLst>
          </p:cNvPr>
          <p:cNvSpPr txBox="1"/>
          <p:nvPr/>
        </p:nvSpPr>
        <p:spPr>
          <a:xfrm>
            <a:off x="6827881" y="4256808"/>
            <a:ext cx="1004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</a:t>
            </a:r>
            <a:endParaRPr lang="zh-CN" altLang="en-US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051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!!文本框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481012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" name="!!文本框 2">
            <a:extLst>
              <a:ext uri="{FF2B5EF4-FFF2-40B4-BE49-F238E27FC236}">
                <a16:creationId xmlns:a16="http://schemas.microsoft.com/office/drawing/2014/main" id="{24E40A3F-9140-2ECC-3CE5-7DC587F42B81}"/>
              </a:ext>
            </a:extLst>
          </p:cNvPr>
          <p:cNvSpPr txBox="1">
            <a:spLocks/>
          </p:cNvSpPr>
          <p:nvPr/>
        </p:nvSpPr>
        <p:spPr>
          <a:xfrm>
            <a:off x="6351439" y="3429000"/>
            <a:ext cx="3692525" cy="50680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自动配置</a:t>
            </a:r>
          </a:p>
        </p:txBody>
      </p:sp>
    </p:spTree>
    <p:extLst>
      <p:ext uri="{BB962C8B-B14F-4D97-AF65-F5344CB8AC3E}">
        <p14:creationId xmlns:p14="http://schemas.microsoft.com/office/powerpoint/2010/main" val="319072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起步依赖</a:t>
            </a:r>
            <a:r>
              <a:rPr lang="en-US" altLang="zh-CN"/>
              <a:t>-</a:t>
            </a:r>
            <a:r>
              <a:rPr lang="zh-CN" altLang="en-US"/>
              <a:t>原理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A18EF10-7D69-283F-55FD-512E591E09E9}"/>
              </a:ext>
            </a:extLst>
          </p:cNvPr>
          <p:cNvSpPr/>
          <p:nvPr/>
        </p:nvSpPr>
        <p:spPr>
          <a:xfrm>
            <a:off x="788895" y="1353671"/>
            <a:ext cx="3558988" cy="36755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spring-boot-starter-web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707488-2697-F321-678E-02A0C38EAA22}"/>
              </a:ext>
            </a:extLst>
          </p:cNvPr>
          <p:cNvSpPr/>
          <p:nvPr/>
        </p:nvSpPr>
        <p:spPr>
          <a:xfrm>
            <a:off x="788895" y="2000923"/>
            <a:ext cx="3558988" cy="3675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spring-boot-starter-aop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5453ADF-0E59-EA31-4E6F-EB16216E6410}"/>
              </a:ext>
            </a:extLst>
          </p:cNvPr>
          <p:cNvSpPr/>
          <p:nvPr/>
        </p:nvSpPr>
        <p:spPr>
          <a:xfrm>
            <a:off x="788895" y="2648176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spring-boot-starter-test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41274A-B3C8-CE43-E2ED-386A3EA19297}"/>
              </a:ext>
            </a:extLst>
          </p:cNvPr>
          <p:cNvSpPr/>
          <p:nvPr/>
        </p:nvSpPr>
        <p:spPr>
          <a:xfrm>
            <a:off x="788895" y="3295430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mybatis-spring-boot-starter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993DA-921C-46C1-C020-407FE7343120}"/>
              </a:ext>
            </a:extLst>
          </p:cNvPr>
          <p:cNvSpPr/>
          <p:nvPr/>
        </p:nvSpPr>
        <p:spPr>
          <a:xfrm>
            <a:off x="788895" y="3942684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pagehelper-spring-boot-starter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34C5249-9508-539E-3560-78BE5A9A4996}"/>
              </a:ext>
            </a:extLst>
          </p:cNvPr>
          <p:cNvSpPr/>
          <p:nvPr/>
        </p:nvSpPr>
        <p:spPr>
          <a:xfrm>
            <a:off x="788895" y="4589940"/>
            <a:ext cx="3558988" cy="36755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spring-boot-starter-...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040550-D376-E35A-2804-49179201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4" y="1353671"/>
            <a:ext cx="4989276" cy="414981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!!矩形 12">
            <a:extLst>
              <a:ext uri="{FF2B5EF4-FFF2-40B4-BE49-F238E27FC236}">
                <a16:creationId xmlns:a16="http://schemas.microsoft.com/office/drawing/2014/main" id="{A3669FAC-D5F2-0A8E-232C-8126C566F970}"/>
              </a:ext>
            </a:extLst>
          </p:cNvPr>
          <p:cNvSpPr/>
          <p:nvPr/>
        </p:nvSpPr>
        <p:spPr>
          <a:xfrm>
            <a:off x="6745524" y="2209800"/>
            <a:ext cx="4989276" cy="242497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2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起步依赖</a:t>
            </a:r>
            <a:r>
              <a:rPr lang="en-US" altLang="zh-CN"/>
              <a:t>-</a:t>
            </a:r>
            <a:r>
              <a:rPr lang="zh-CN" altLang="en-US"/>
              <a:t>原理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A18EF10-7D69-283F-55FD-512E591E09E9}"/>
              </a:ext>
            </a:extLst>
          </p:cNvPr>
          <p:cNvSpPr/>
          <p:nvPr/>
        </p:nvSpPr>
        <p:spPr>
          <a:xfrm>
            <a:off x="788895" y="1353671"/>
            <a:ext cx="3558988" cy="36755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spring-boot-starter-web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707488-2697-F321-678E-02A0C38EAA22}"/>
              </a:ext>
            </a:extLst>
          </p:cNvPr>
          <p:cNvSpPr/>
          <p:nvPr/>
        </p:nvSpPr>
        <p:spPr>
          <a:xfrm>
            <a:off x="788895" y="2000923"/>
            <a:ext cx="3558988" cy="3675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spring-boot-starter-aop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5453ADF-0E59-EA31-4E6F-EB16216E6410}"/>
              </a:ext>
            </a:extLst>
          </p:cNvPr>
          <p:cNvSpPr/>
          <p:nvPr/>
        </p:nvSpPr>
        <p:spPr>
          <a:xfrm>
            <a:off x="788895" y="2648176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spring-boot-starter-test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41274A-B3C8-CE43-E2ED-386A3EA19297}"/>
              </a:ext>
            </a:extLst>
          </p:cNvPr>
          <p:cNvSpPr/>
          <p:nvPr/>
        </p:nvSpPr>
        <p:spPr>
          <a:xfrm>
            <a:off x="788895" y="3295430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mybatis-spring-boot-starter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993DA-921C-46C1-C020-407FE7343120}"/>
              </a:ext>
            </a:extLst>
          </p:cNvPr>
          <p:cNvSpPr/>
          <p:nvPr/>
        </p:nvSpPr>
        <p:spPr>
          <a:xfrm>
            <a:off x="788895" y="3942684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pagehelper-spring-boot-starter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34C5249-9508-539E-3560-78BE5A9A4996}"/>
              </a:ext>
            </a:extLst>
          </p:cNvPr>
          <p:cNvSpPr/>
          <p:nvPr/>
        </p:nvSpPr>
        <p:spPr>
          <a:xfrm>
            <a:off x="788895" y="4589940"/>
            <a:ext cx="3558988" cy="36755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spring-boot-starter-...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E03DE3-13AC-2A77-F546-A853BDA0C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478" y="929126"/>
            <a:ext cx="5227773" cy="58983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!!矩形 12">
            <a:extLst>
              <a:ext uri="{FF2B5EF4-FFF2-40B4-BE49-F238E27FC236}">
                <a16:creationId xmlns:a16="http://schemas.microsoft.com/office/drawing/2014/main" id="{585F2629-DDC7-8CB0-284E-61B0C66B8A1D}"/>
              </a:ext>
            </a:extLst>
          </p:cNvPr>
          <p:cNvSpPr/>
          <p:nvPr/>
        </p:nvSpPr>
        <p:spPr>
          <a:xfrm>
            <a:off x="6691478" y="1758426"/>
            <a:ext cx="5227772" cy="242497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!!矩形 13">
            <a:extLst>
              <a:ext uri="{FF2B5EF4-FFF2-40B4-BE49-F238E27FC236}">
                <a16:creationId xmlns:a16="http://schemas.microsoft.com/office/drawing/2014/main" id="{235DD6CC-1B64-FDA5-8B93-DA2D18EE0D11}"/>
              </a:ext>
            </a:extLst>
          </p:cNvPr>
          <p:cNvSpPr/>
          <p:nvPr/>
        </p:nvSpPr>
        <p:spPr>
          <a:xfrm>
            <a:off x="6691476" y="2008543"/>
            <a:ext cx="5227771" cy="1867497"/>
          </a:xfrm>
          <a:prstGeom prst="rect">
            <a:avLst/>
          </a:prstGeom>
          <a:solidFill>
            <a:srgbClr val="FFABA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A813D0-9438-2682-54E6-AD16230D44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C3B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5037090-1265-1A66-0BA2-096D7BDB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891" y="0"/>
            <a:ext cx="9196109" cy="6858000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36BF8797-0D4B-3A18-B454-63668FACE4D2}"/>
              </a:ext>
            </a:extLst>
          </p:cNvPr>
          <p:cNvSpPr/>
          <p:nvPr/>
        </p:nvSpPr>
        <p:spPr>
          <a:xfrm>
            <a:off x="2743752" y="3446015"/>
            <a:ext cx="2373735" cy="792510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依赖传递</a:t>
            </a:r>
          </a:p>
        </p:txBody>
      </p:sp>
    </p:spTree>
    <p:extLst>
      <p:ext uri="{BB962C8B-B14F-4D97-AF65-F5344CB8AC3E}">
        <p14:creationId xmlns:p14="http://schemas.microsoft.com/office/powerpoint/2010/main" val="123463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49333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380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3182A40-63BE-B44E-9D31-952F9FED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57" y="2063001"/>
            <a:ext cx="6419109" cy="2594328"/>
          </a:xfrm>
          <a:prstGeom prst="roundRect">
            <a:avLst>
              <a:gd name="adj" fmla="val 298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456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r>
              <a:rPr lang="zh-CN" altLang="en-US">
                <a:latin typeface="Fira Code" panose="020B0809050000020004" pitchFamily="49" charset="0"/>
              </a:rPr>
              <a:t>的自动配置就是当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latin typeface="Fira Code" panose="020B0809050000020004" pitchFamily="49" charset="0"/>
              </a:rPr>
              <a:t>项目启动后，一些配置类、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>
                <a:latin typeface="Fira Code" panose="020B0809050000020004" pitchFamily="49" charset="0"/>
              </a:rPr>
              <a:t>对象就自动存入到了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IOC</a:t>
            </a:r>
            <a:r>
              <a:rPr lang="zh-CN" altLang="en-US">
                <a:latin typeface="Fira Code" panose="020B0809050000020004" pitchFamily="49" charset="0"/>
              </a:rPr>
              <a:t>容器中，不需要我们手动去声明，从而简化了开发，省去了繁琐的配置操作。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什么是自动配置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D53DAA-7E2A-814F-F60F-15D5E77056FC}"/>
              </a:ext>
            </a:extLst>
          </p:cNvPr>
          <p:cNvSpPr/>
          <p:nvPr/>
        </p:nvSpPr>
        <p:spPr>
          <a:xfrm>
            <a:off x="848957" y="2659334"/>
            <a:ext cx="6419109" cy="546847"/>
          </a:xfrm>
          <a:prstGeom prst="rect">
            <a:avLst/>
          </a:prstGeom>
          <a:solidFill>
            <a:srgbClr val="00B050">
              <a:alpha val="20000"/>
            </a:srgbClr>
          </a:solidFill>
          <a:ln w="31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EC32F1-FBE8-284C-8AB4-7C939EE4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92" y="1862691"/>
            <a:ext cx="3199510" cy="1143180"/>
          </a:xfrm>
          <a:prstGeom prst="roundRect">
            <a:avLst>
              <a:gd name="adj" fmla="val 6622"/>
            </a:avLst>
          </a:prstGeom>
          <a:ln>
            <a:solidFill>
              <a:schemeClr val="bg1">
                <a:lumMod val="75000"/>
              </a:schemeClr>
            </a:solidFill>
          </a:ln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3F8B58-2CB4-90F2-BD90-1586DFA50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489" y="3360165"/>
            <a:ext cx="3798534" cy="3042428"/>
          </a:xfrm>
          <a:prstGeom prst="roundRect">
            <a:avLst>
              <a:gd name="adj" fmla="val 2281"/>
            </a:avLst>
          </a:prstGeom>
          <a:ln w="3175">
            <a:solidFill>
              <a:schemeClr val="bg1">
                <a:lumMod val="50000"/>
              </a:schemeClr>
            </a:solidFill>
            <a:prstDash val="solid"/>
          </a:ln>
          <a:effectLst/>
        </p:spPr>
      </p:pic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51306480-9C64-9B66-E799-C2D92A206DDF}"/>
              </a:ext>
            </a:extLst>
          </p:cNvPr>
          <p:cNvCxnSpPr>
            <a:stCxn id="7" idx="3"/>
            <a:endCxn id="8" idx="0"/>
          </p:cNvCxnSpPr>
          <p:nvPr/>
        </p:nvCxnSpPr>
        <p:spPr>
          <a:xfrm>
            <a:off x="7467602" y="2434281"/>
            <a:ext cx="2565154" cy="925884"/>
          </a:xfrm>
          <a:prstGeom prst="curvedConnector2">
            <a:avLst/>
          </a:prstGeom>
          <a:ln w="12700">
            <a:solidFill>
              <a:schemeClr val="tx1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43F5070-A981-328E-D4D5-DFF7E3A136A8}"/>
              </a:ext>
            </a:extLst>
          </p:cNvPr>
          <p:cNvSpPr txBox="1"/>
          <p:nvPr/>
        </p:nvSpPr>
        <p:spPr>
          <a:xfrm>
            <a:off x="10079663" y="2807321"/>
            <a:ext cx="4972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6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?</a:t>
            </a:r>
            <a:endParaRPr lang="zh-CN" altLang="en-US" sz="6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42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27103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源码跟踪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自定义</a:t>
            </a:r>
            <a:r>
              <a:rPr lang="en-US" altLang="zh-CN" sz="1600"/>
              <a:t>starter</a:t>
            </a:r>
            <a:endParaRPr lang="zh-CN" altLang="en-US" sz="160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27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9FF387C4-7E45-E161-E2D9-54029C94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74" y="2774339"/>
            <a:ext cx="2593358" cy="2371704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A9E45AA-2125-DA52-B407-1EA3D7987495}"/>
              </a:ext>
            </a:extLst>
          </p:cNvPr>
          <p:cNvCxnSpPr>
            <a:cxnSpLocks/>
          </p:cNvCxnSpPr>
          <p:nvPr/>
        </p:nvCxnSpPr>
        <p:spPr>
          <a:xfrm>
            <a:off x="4061701" y="3960191"/>
            <a:ext cx="2948698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!!图片 5">
            <a:extLst>
              <a:ext uri="{FF2B5EF4-FFF2-40B4-BE49-F238E27FC236}">
                <a16:creationId xmlns:a16="http://schemas.microsoft.com/office/drawing/2014/main" id="{85BB9A97-99D8-204F-A664-6D628AE9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187" y="2596751"/>
            <a:ext cx="3423286" cy="2741874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7564D444-50A9-D571-7D97-EDCF1892A941}"/>
              </a:ext>
            </a:extLst>
          </p:cNvPr>
          <p:cNvSpPr/>
          <p:nvPr/>
        </p:nvSpPr>
        <p:spPr>
          <a:xfrm>
            <a:off x="9241109" y="4968455"/>
            <a:ext cx="1392222" cy="517189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D36322-E5DB-B03F-960D-53B396207101}"/>
              </a:ext>
            </a:extLst>
          </p:cNvPr>
          <p:cNvGrpSpPr/>
          <p:nvPr/>
        </p:nvGrpSpPr>
        <p:grpSpPr>
          <a:xfrm>
            <a:off x="2107407" y="2394202"/>
            <a:ext cx="951091" cy="273687"/>
            <a:chOff x="-11580" y="1901765"/>
            <a:chExt cx="951091" cy="273687"/>
          </a:xfrm>
        </p:grpSpPr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16533332-224F-A591-6D4B-2570877E1A09}"/>
                </a:ext>
              </a:extLst>
            </p:cNvPr>
            <p:cNvSpPr/>
            <p:nvPr/>
          </p:nvSpPr>
          <p:spPr>
            <a:xfrm rot="5400000">
              <a:off x="327122" y="1563063"/>
              <a:ext cx="273687" cy="951091"/>
            </a:xfrm>
            <a:prstGeom prst="round2SameRect">
              <a:avLst>
                <a:gd name="adj1" fmla="val 16667"/>
                <a:gd name="adj2" fmla="val 2031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F6775B4-2766-03AE-5CF1-1557338BE0B6}"/>
                </a:ext>
              </a:extLst>
            </p:cNvPr>
            <p:cNvSpPr txBox="1"/>
            <p:nvPr/>
          </p:nvSpPr>
          <p:spPr>
            <a:xfrm>
              <a:off x="-5148" y="1915572"/>
              <a:ext cx="94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8FF74B0-2B6F-3EFE-AB64-78888E42FFA2}"/>
              </a:ext>
            </a:extLst>
          </p:cNvPr>
          <p:cNvGrpSpPr/>
          <p:nvPr/>
        </p:nvGrpSpPr>
        <p:grpSpPr>
          <a:xfrm>
            <a:off x="8180955" y="2136172"/>
            <a:ext cx="1299749" cy="313560"/>
            <a:chOff x="-11580" y="1901765"/>
            <a:chExt cx="1299749" cy="313560"/>
          </a:xfrm>
        </p:grpSpPr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D9B013BB-05F7-89FB-5F2C-1238764C7FC6}"/>
                </a:ext>
              </a:extLst>
            </p:cNvPr>
            <p:cNvSpPr/>
            <p:nvPr/>
          </p:nvSpPr>
          <p:spPr>
            <a:xfrm rot="5400000">
              <a:off x="481515" y="1408670"/>
              <a:ext cx="313560" cy="1299749"/>
            </a:xfrm>
            <a:prstGeom prst="round2SameRect">
              <a:avLst>
                <a:gd name="adj1" fmla="val 16667"/>
                <a:gd name="adj2" fmla="val 1703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70ABC18-6931-4640-C14B-E85055FD5BD2}"/>
                </a:ext>
              </a:extLst>
            </p:cNvPr>
            <p:cNvSpPr txBox="1"/>
            <p:nvPr/>
          </p:nvSpPr>
          <p:spPr>
            <a:xfrm>
              <a:off x="232932" y="1935433"/>
              <a:ext cx="8156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7C1DA0EB-7DF0-0082-577A-06E0BB8C1A45}"/>
              </a:ext>
            </a:extLst>
          </p:cNvPr>
          <p:cNvGrpSpPr/>
          <p:nvPr/>
        </p:nvGrpSpPr>
        <p:grpSpPr>
          <a:xfrm>
            <a:off x="5057002" y="4634266"/>
            <a:ext cx="6545717" cy="1648615"/>
            <a:chOff x="2297722" y="3660322"/>
            <a:chExt cx="7212166" cy="164871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2C00C54-001B-FB74-0325-35B39BFE759D}"/>
                </a:ext>
              </a:extLst>
            </p:cNvPr>
            <p:cNvSpPr/>
            <p:nvPr/>
          </p:nvSpPr>
          <p:spPr>
            <a:xfrm>
              <a:off x="2297726" y="3660325"/>
              <a:ext cx="7212162" cy="1648708"/>
            </a:xfrm>
            <a:prstGeom prst="roundRect">
              <a:avLst>
                <a:gd name="adj" fmla="val 51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@ComponentScan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({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"com.example"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,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"com.itheima"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})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@SpringBootApplication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SpringbootWebConfigApplication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{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//...</a:t>
              </a: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6BDA374B-FF87-1692-342E-01F20B22EC3B}"/>
                </a:ext>
              </a:extLst>
            </p:cNvPr>
            <p:cNvSpPr/>
            <p:nvPr/>
          </p:nvSpPr>
          <p:spPr>
            <a:xfrm>
              <a:off x="2297722" y="3660322"/>
              <a:ext cx="721216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B6CCDAA-DA87-B9A0-A3C0-1E449E363EE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B0A48BA-61A0-A6EB-5404-709A80924E6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53062EF-2A76-2170-9A84-7C39BD7ACCF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自动配置实现方案一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9FF387C4-7E45-E161-E2D9-54029C94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33" y="1011573"/>
            <a:ext cx="2843214" cy="2600205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6" name="!!图片 5">
            <a:extLst>
              <a:ext uri="{FF2B5EF4-FFF2-40B4-BE49-F238E27FC236}">
                <a16:creationId xmlns:a16="http://schemas.microsoft.com/office/drawing/2014/main" id="{85BB9A97-99D8-204F-A664-6D628AE9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33" y="4128808"/>
            <a:ext cx="2961116" cy="2371700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7564D444-50A9-D571-7D97-EDCF1892A941}"/>
              </a:ext>
            </a:extLst>
          </p:cNvPr>
          <p:cNvSpPr/>
          <p:nvPr/>
        </p:nvSpPr>
        <p:spPr>
          <a:xfrm>
            <a:off x="3375663" y="6234787"/>
            <a:ext cx="1200328" cy="43251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2D8B2E-B306-7B41-7115-8B7FBD4A6638}"/>
              </a:ext>
            </a:extLst>
          </p:cNvPr>
          <p:cNvGrpSpPr/>
          <p:nvPr/>
        </p:nvGrpSpPr>
        <p:grpSpPr>
          <a:xfrm>
            <a:off x="5057002" y="1355644"/>
            <a:ext cx="6545712" cy="1871711"/>
            <a:chOff x="2297722" y="3660322"/>
            <a:chExt cx="7212161" cy="187182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7FAC557-0FE2-00B2-30C7-6174E2CAA976}"/>
                </a:ext>
              </a:extLst>
            </p:cNvPr>
            <p:cNvSpPr/>
            <p:nvPr/>
          </p:nvSpPr>
          <p:spPr>
            <a:xfrm>
              <a:off x="2297726" y="3660325"/>
              <a:ext cx="7212157" cy="1871817"/>
            </a:xfrm>
            <a:prstGeom prst="roundRect">
              <a:avLst>
                <a:gd name="adj" fmla="val 418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@Component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TokenParser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parse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"TokenParser ... parse ..."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4BBB12C4-56C1-340B-8D99-3C140242A46F}"/>
                </a:ext>
              </a:extLst>
            </p:cNvPr>
            <p:cNvSpPr/>
            <p:nvPr/>
          </p:nvSpPr>
          <p:spPr>
            <a:xfrm>
              <a:off x="2297722" y="3660322"/>
              <a:ext cx="721215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8A818EA-C67F-20C0-3BED-80854D70548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F790811-0199-E6EE-0CEB-6A144CB74D7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F7406B8-4758-31E5-5117-63BFA861D44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A5D5EA1-072E-90CB-2F52-62183042686A}"/>
              </a:ext>
            </a:extLst>
          </p:cNvPr>
          <p:cNvCxnSpPr>
            <a:cxnSpLocks/>
          </p:cNvCxnSpPr>
          <p:nvPr/>
        </p:nvCxnSpPr>
        <p:spPr>
          <a:xfrm>
            <a:off x="0" y="3866340"/>
            <a:ext cx="1219200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35C5D0F8-0F6F-6D2E-93C3-3C3496D5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C0F864E-8BBF-1DD2-BFCB-225DA80E81E9}"/>
              </a:ext>
            </a:extLst>
          </p:cNvPr>
          <p:cNvSpPr/>
          <p:nvPr/>
        </p:nvSpPr>
        <p:spPr>
          <a:xfrm>
            <a:off x="8751489" y="4958090"/>
            <a:ext cx="2851231" cy="270174"/>
          </a:xfrm>
          <a:prstGeom prst="roundRect">
            <a:avLst>
              <a:gd name="adj" fmla="val 4308"/>
            </a:avLst>
          </a:prstGeom>
          <a:solidFill>
            <a:srgbClr val="F6F6F6"/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"com.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Fira Code" panose="020B0809050000020004" pitchFamily="49" charset="0"/>
                <a:cs typeface="Courier New" panose="02070309020205020404" pitchFamily="49" charset="0"/>
              </a:rPr>
              <a:t>alibaba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"com.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Fira Code" panose="020B0809050000020004" pitchFamily="49" charset="0"/>
                <a:cs typeface="Courier New" panose="02070309020205020404" pitchFamily="49" charset="0"/>
              </a:rPr>
              <a:t>google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lang="en-US" altLang="zh-CN" sz="1100">
                <a:solidFill>
                  <a:srgbClr val="080808"/>
                </a:solidFill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})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6DDD07D-C6AE-0F1D-9F31-9E7B561AE8DA}"/>
              </a:ext>
            </a:extLst>
          </p:cNvPr>
          <p:cNvGrpSpPr/>
          <p:nvPr/>
        </p:nvGrpSpPr>
        <p:grpSpPr>
          <a:xfrm>
            <a:off x="-11580" y="1901765"/>
            <a:ext cx="1299749" cy="581462"/>
            <a:chOff x="-11580" y="1901765"/>
            <a:chExt cx="1299749" cy="581462"/>
          </a:xfrm>
        </p:grpSpPr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0684451F-3FFE-667D-A413-FADF3099C988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07C7A42-2373-D5F9-D551-033798AA56E6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E3766DE-BB5D-BA72-621D-277B7AFD71BC}"/>
              </a:ext>
            </a:extLst>
          </p:cNvPr>
          <p:cNvGrpSpPr/>
          <p:nvPr/>
        </p:nvGrpSpPr>
        <p:grpSpPr>
          <a:xfrm>
            <a:off x="0" y="4753756"/>
            <a:ext cx="1299749" cy="581462"/>
            <a:chOff x="-11580" y="1901765"/>
            <a:chExt cx="1299749" cy="581462"/>
          </a:xfrm>
        </p:grpSpPr>
        <p:sp>
          <p:nvSpPr>
            <p:cNvPr id="38" name="矩形: 圆顶角 37">
              <a:extLst>
                <a:ext uri="{FF2B5EF4-FFF2-40B4-BE49-F238E27FC236}">
                  <a16:creationId xmlns:a16="http://schemas.microsoft.com/office/drawing/2014/main" id="{FF0C4855-9779-465A-A322-A909753AC221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3BEFF26-82E8-808A-EF88-0C805421919C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8D405DFF-8891-E4B3-03A0-408AFF3FB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3" y="4962134"/>
            <a:ext cx="3899607" cy="26804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CC16F5-A866-42FC-F303-78E4896D2295}"/>
              </a:ext>
            </a:extLst>
          </p:cNvPr>
          <p:cNvSpPr txBox="1"/>
          <p:nvPr/>
        </p:nvSpPr>
        <p:spPr>
          <a:xfrm>
            <a:off x="9940726" y="563221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性能低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A3439A-9F72-4690-D27B-7361125B8CC4}"/>
              </a:ext>
            </a:extLst>
          </p:cNvPr>
          <p:cNvSpPr txBox="1"/>
          <p:nvPr/>
        </p:nvSpPr>
        <p:spPr>
          <a:xfrm>
            <a:off x="9883438" y="522826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使用繁琐</a:t>
            </a:r>
            <a:endParaRPr lang="zh-CN" altLang="en-US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6451B8-29B4-FE44-9DC4-9547AA079B26}"/>
              </a:ext>
            </a:extLst>
          </p:cNvPr>
          <p:cNvSpPr/>
          <p:nvPr/>
        </p:nvSpPr>
        <p:spPr>
          <a:xfrm>
            <a:off x="5057003" y="4968250"/>
            <a:ext cx="6542448" cy="251870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56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5" grpId="0"/>
      <p:bldP spid="16" grpId="0"/>
      <p:bldP spid="4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6A5E-A7B1-E89B-E7C3-237B5614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CCFB9F7-4C8F-45FA-CE37-A346F56F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自动配置实现方案二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3B0B6EB7-83B8-E6E8-DD97-F2CB302A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33" y="1011573"/>
            <a:ext cx="2843214" cy="2600205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6" name="!!图片 5">
            <a:extLst>
              <a:ext uri="{FF2B5EF4-FFF2-40B4-BE49-F238E27FC236}">
                <a16:creationId xmlns:a16="http://schemas.microsoft.com/office/drawing/2014/main" id="{0667585E-346C-1F14-E873-C560E00F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33" y="3956454"/>
            <a:ext cx="2843214" cy="2371700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269A5800-27B1-9C92-0102-10890D0DB940}"/>
              </a:ext>
            </a:extLst>
          </p:cNvPr>
          <p:cNvSpPr/>
          <p:nvPr/>
        </p:nvSpPr>
        <p:spPr>
          <a:xfrm>
            <a:off x="3156084" y="5984303"/>
            <a:ext cx="1200328" cy="43251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6BACA2C-D952-FFD4-4663-D57CAAAE8C65}"/>
              </a:ext>
            </a:extLst>
          </p:cNvPr>
          <p:cNvGrpSpPr/>
          <p:nvPr/>
        </p:nvGrpSpPr>
        <p:grpSpPr>
          <a:xfrm>
            <a:off x="4418450" y="1010281"/>
            <a:ext cx="3554416" cy="1456078"/>
            <a:chOff x="2297723" y="3660322"/>
            <a:chExt cx="3916307" cy="145616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3F4D4CA-CF54-427B-6E91-08BF691DEDBA}"/>
                </a:ext>
              </a:extLst>
            </p:cNvPr>
            <p:cNvSpPr/>
            <p:nvPr/>
          </p:nvSpPr>
          <p:spPr>
            <a:xfrm>
              <a:off x="2297730" y="3660326"/>
              <a:ext cx="3916300" cy="1456159"/>
            </a:xfrm>
            <a:prstGeom prst="roundRect">
              <a:avLst>
                <a:gd name="adj" fmla="val 50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TokenParser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parse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9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p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arse ... "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36FAD56E-2D65-3DCB-AA88-5D285FF10B58}"/>
                </a:ext>
              </a:extLst>
            </p:cNvPr>
            <p:cNvSpPr/>
            <p:nvPr/>
          </p:nvSpPr>
          <p:spPr>
            <a:xfrm>
              <a:off x="2297723" y="3660322"/>
              <a:ext cx="391630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19D4F4D-B3EE-5947-A1AC-71F76D0227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D982175-12C6-8175-5712-D0B9F07FA99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2BD2C95-176F-A4A8-F128-B4A4162137C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445067C-6157-89A1-D128-3A4D9206EA12}"/>
              </a:ext>
            </a:extLst>
          </p:cNvPr>
          <p:cNvCxnSpPr>
            <a:cxnSpLocks/>
          </p:cNvCxnSpPr>
          <p:nvPr/>
        </p:nvCxnSpPr>
        <p:spPr>
          <a:xfrm>
            <a:off x="0" y="3683460"/>
            <a:ext cx="1219200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3D56A13-F14E-7AB3-9AAB-2FCC4AC5CB40}"/>
              </a:ext>
            </a:extLst>
          </p:cNvPr>
          <p:cNvGrpSpPr/>
          <p:nvPr/>
        </p:nvGrpSpPr>
        <p:grpSpPr>
          <a:xfrm>
            <a:off x="-11580" y="1901765"/>
            <a:ext cx="1299749" cy="581462"/>
            <a:chOff x="-11580" y="1901765"/>
            <a:chExt cx="1299749" cy="581462"/>
          </a:xfrm>
        </p:grpSpPr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894007C0-D26C-2145-DDBF-3BD62798D73C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443FDF2-9E90-91A7-6B28-2CCD3B32DCB3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E2F9395-5A68-8659-286F-04F140A6BA55}"/>
              </a:ext>
            </a:extLst>
          </p:cNvPr>
          <p:cNvGrpSpPr/>
          <p:nvPr/>
        </p:nvGrpSpPr>
        <p:grpSpPr>
          <a:xfrm>
            <a:off x="0" y="4753756"/>
            <a:ext cx="1299749" cy="581462"/>
            <a:chOff x="-11580" y="1901765"/>
            <a:chExt cx="1299749" cy="581462"/>
          </a:xfrm>
        </p:grpSpPr>
        <p:sp>
          <p:nvSpPr>
            <p:cNvPr id="38" name="矩形: 圆顶角 37">
              <a:extLst>
                <a:ext uri="{FF2B5EF4-FFF2-40B4-BE49-F238E27FC236}">
                  <a16:creationId xmlns:a16="http://schemas.microsoft.com/office/drawing/2014/main" id="{7EB12DD7-24DD-4C9E-35F9-18564F6FFA08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3F72AD2-52EF-02F6-7B80-700532518E2F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9971E6-FB05-5B0E-DA71-5E72451ED1FB}"/>
              </a:ext>
            </a:extLst>
          </p:cNvPr>
          <p:cNvGrpSpPr/>
          <p:nvPr/>
        </p:nvGrpSpPr>
        <p:grpSpPr>
          <a:xfrm>
            <a:off x="8085480" y="1001838"/>
            <a:ext cx="3710491" cy="2525132"/>
            <a:chOff x="2297723" y="3660322"/>
            <a:chExt cx="4088273" cy="25252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0817FB9-E056-1CAB-074D-8B7FBE9B3635}"/>
                </a:ext>
              </a:extLst>
            </p:cNvPr>
            <p:cNvSpPr/>
            <p:nvPr/>
          </p:nvSpPr>
          <p:spPr>
            <a:xfrm>
              <a:off x="2297730" y="3660325"/>
              <a:ext cx="4088266" cy="2525277"/>
            </a:xfrm>
            <a:prstGeom prst="roundRect">
              <a:avLst>
                <a:gd name="adj" fmla="val 321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@Configuration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HeaderConfig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@Bean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HeaderParser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headerParser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HeaderParser();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@Bean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HeaderGenerator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headerGenerator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HeaderGenerator();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14806C09-2EC1-A4CC-E7BB-0031015FED9F}"/>
                </a:ext>
              </a:extLst>
            </p:cNvPr>
            <p:cNvSpPr/>
            <p:nvPr/>
          </p:nvSpPr>
          <p:spPr>
            <a:xfrm>
              <a:off x="2297723" y="3660322"/>
              <a:ext cx="408826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58D9B5C-1CA0-5EA2-6760-34C63ECD283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1C82776-82E0-8B74-C1AF-B83135390D7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4277F35-F7A8-E22C-CB72-76950C81D96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EE5E535-53D0-4583-8B6C-7DB7CC7A1682}"/>
              </a:ext>
            </a:extLst>
          </p:cNvPr>
          <p:cNvGrpSpPr/>
          <p:nvPr/>
        </p:nvGrpSpPr>
        <p:grpSpPr>
          <a:xfrm>
            <a:off x="4795099" y="5284417"/>
            <a:ext cx="5296587" cy="1499193"/>
            <a:chOff x="2297722" y="3660322"/>
            <a:chExt cx="5835857" cy="149928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B0B9C721-9934-D18C-DFC6-52801BA6E716}"/>
                </a:ext>
              </a:extLst>
            </p:cNvPr>
            <p:cNvSpPr/>
            <p:nvPr/>
          </p:nvSpPr>
          <p:spPr>
            <a:xfrm>
              <a:off x="2297726" y="3660325"/>
              <a:ext cx="5835853" cy="1499278"/>
            </a:xfrm>
            <a:prstGeom prst="roundRect">
              <a:avLst>
                <a:gd name="adj" fmla="val 51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@Import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({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TokenParser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class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kumimoji="0" lang="en-US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HeaderConfig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class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})</a:t>
              </a:r>
              <a:br>
                <a:rPr kumimoji="0" lang="zh-CN" altLang="zh-CN" sz="10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@SpringBootApplication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public class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SpringbootWebConfig2Application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{</a:t>
              </a:r>
              <a:endParaRPr kumimoji="0" lang="en-US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  </a:t>
              </a:r>
              <a:r>
                <a:rPr lang="en-US" altLang="zh-CN" sz="10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//...</a:t>
              </a: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}</a:t>
              </a:r>
              <a:endPara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32" name="矩形: 圆顶角 31">
              <a:extLst>
                <a:ext uri="{FF2B5EF4-FFF2-40B4-BE49-F238E27FC236}">
                  <a16:creationId xmlns:a16="http://schemas.microsoft.com/office/drawing/2014/main" id="{741AAB47-2A5E-B533-3895-03EF8251DB7C}"/>
                </a:ext>
              </a:extLst>
            </p:cNvPr>
            <p:cNvSpPr/>
            <p:nvPr/>
          </p:nvSpPr>
          <p:spPr>
            <a:xfrm>
              <a:off x="2297722" y="3660322"/>
              <a:ext cx="583585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7729F4B-E2BC-7A87-001B-0560A799216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401FF30-31D7-D65F-FEA8-64CF577F90C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5ABE7EE-24B6-932F-7728-35F47580E31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532D356E-7F89-BC12-9CFE-12BA0E84EA22}"/>
              </a:ext>
            </a:extLst>
          </p:cNvPr>
          <p:cNvSpPr/>
          <p:nvPr/>
        </p:nvSpPr>
        <p:spPr>
          <a:xfrm>
            <a:off x="4795099" y="5580699"/>
            <a:ext cx="5296583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内容占位符 3">
            <a:extLst>
              <a:ext uri="{FF2B5EF4-FFF2-40B4-BE49-F238E27FC236}">
                <a16:creationId xmlns:a16="http://schemas.microsoft.com/office/drawing/2014/main" id="{5BBBEBA7-038C-A789-3DE1-CA434FFCF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249" y="3737595"/>
            <a:ext cx="7766751" cy="14991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@Import</a:t>
            </a:r>
            <a:r>
              <a:rPr lang="zh-CN" altLang="en-US" sz="1400">
                <a:latin typeface="Fira Code" panose="020B0809050000020004" pitchFamily="49" charset="0"/>
              </a:rPr>
              <a:t>导入。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@Import</a:t>
            </a:r>
            <a:r>
              <a:rPr lang="zh-CN" altLang="en-US" sz="1400">
                <a:latin typeface="Fira Code" panose="020B0809050000020004" pitchFamily="49" charset="0"/>
              </a:rPr>
              <a:t>导入的类会被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 sz="1400">
                <a:latin typeface="Fira Code" panose="020B0809050000020004" pitchFamily="49" charset="0"/>
              </a:rPr>
              <a:t>加载到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IOC</a:t>
            </a:r>
            <a:r>
              <a:rPr lang="zh-CN" altLang="en-US" sz="1400">
                <a:latin typeface="Fira Code" panose="020B0809050000020004" pitchFamily="49" charset="0"/>
              </a:rPr>
              <a:t>容器中，</a:t>
            </a:r>
            <a:r>
              <a:rPr lang="zh-CN" altLang="en-US" sz="1400" b="0" i="0">
                <a:effectLst/>
                <a:latin typeface="Fira Code" panose="020B0809050000020004" pitchFamily="49" charset="0"/>
              </a:rPr>
              <a:t>导入形式主要有以下几种</a:t>
            </a:r>
            <a:r>
              <a:rPr lang="zh-CN" altLang="en-US" sz="1400">
                <a:latin typeface="Fira Code" panose="020B0809050000020004" pitchFamily="49" charset="0"/>
              </a:rPr>
              <a:t>：</a:t>
            </a:r>
            <a:endParaRPr lang="en-US" altLang="zh-CN" sz="12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普通类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配置类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ImportSelector 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接口实现类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@EnableXxxx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注解，封装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@Import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A952AC3-92F2-CC13-8042-E10690266E49}"/>
              </a:ext>
            </a:extLst>
          </p:cNvPr>
          <p:cNvSpPr txBox="1"/>
          <p:nvPr/>
        </p:nvSpPr>
        <p:spPr>
          <a:xfrm>
            <a:off x="7942547" y="483888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方便</a:t>
            </a:r>
            <a:endParaRPr lang="zh-CN" altLang="en-US" sz="2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6405F07-BCAC-0E70-791B-2FF2EE05BAC2}"/>
              </a:ext>
            </a:extLst>
          </p:cNvPr>
          <p:cNvSpPr txBox="1"/>
          <p:nvPr/>
        </p:nvSpPr>
        <p:spPr>
          <a:xfrm>
            <a:off x="8731733" y="483888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优雅</a:t>
            </a:r>
            <a:endParaRPr lang="zh-CN" altLang="en-US" sz="2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28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uiExpand="1" build="p"/>
      <p:bldP spid="4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8A01057-3B99-C5A2-B3DE-B938D098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7488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为什么第三方依赖中使用</a:t>
            </a:r>
            <a:r>
              <a:rPr lang="en-US" altLang="zh-CN"/>
              <a:t>@Component</a:t>
            </a:r>
            <a:r>
              <a:rPr lang="zh-CN" altLang="en-US"/>
              <a:t>及其衍生注解声明</a:t>
            </a:r>
            <a:r>
              <a:rPr lang="en-US" altLang="zh-CN"/>
              <a:t>bean</a:t>
            </a:r>
            <a:r>
              <a:rPr lang="zh-CN" altLang="en-US"/>
              <a:t>不生效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@Component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及其衍生注解声明的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要想生效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,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需要被组件扫描注解扫描到。</a:t>
            </a:r>
            <a:endParaRPr lang="en-US" altLang="zh-CN" sz="20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有哪些方案可以使其生效呢</a:t>
            </a:r>
            <a:r>
              <a:rPr lang="en-US" altLang="zh-CN"/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@ComponentScan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注解扫描指定的包</a:t>
            </a:r>
            <a:endParaRPr lang="en-US" altLang="zh-CN" sz="14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@Import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注解将其导入到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IOC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容器中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四种常见方式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720000"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普通类、配置类、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ImportSelector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@EnableXxx</a:t>
            </a:r>
          </a:p>
        </p:txBody>
      </p:sp>
    </p:spTree>
    <p:extLst>
      <p:ext uri="{BB962C8B-B14F-4D97-AF65-F5344CB8AC3E}">
        <p14:creationId xmlns:p14="http://schemas.microsoft.com/office/powerpoint/2010/main" val="244638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36068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源码跟踪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自定义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starter</a:t>
            </a:r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15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源码跟踪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C56299-6F3A-3F21-746A-271D3050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01"/>
          <a:stretch/>
        </p:blipFill>
        <p:spPr>
          <a:xfrm>
            <a:off x="678798" y="981544"/>
            <a:ext cx="6152308" cy="1546503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ECE786-236B-98CD-7ECF-30BA0C3F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985" y="2689416"/>
            <a:ext cx="8537911" cy="1384748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FC7EE2C-576C-2E75-45E3-746F5E32097F}"/>
              </a:ext>
            </a:extLst>
          </p:cNvPr>
          <p:cNvSpPr/>
          <p:nvPr/>
        </p:nvSpPr>
        <p:spPr>
          <a:xfrm>
            <a:off x="678798" y="1038113"/>
            <a:ext cx="1974756" cy="261770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BDF9B3-D6C3-79F5-F2DD-9656C1998A01}"/>
              </a:ext>
            </a:extLst>
          </p:cNvPr>
          <p:cNvSpPr/>
          <p:nvPr/>
        </p:nvSpPr>
        <p:spPr>
          <a:xfrm>
            <a:off x="2918985" y="2788173"/>
            <a:ext cx="213711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矩形: 圆角 14">
            <a:extLst>
              <a:ext uri="{FF2B5EF4-FFF2-40B4-BE49-F238E27FC236}">
                <a16:creationId xmlns:a16="http://schemas.microsoft.com/office/drawing/2014/main" id="{F742DF98-61BD-AE9E-A6DD-7BCC90CC8803}"/>
              </a:ext>
            </a:extLst>
          </p:cNvPr>
          <p:cNvSpPr/>
          <p:nvPr/>
        </p:nvSpPr>
        <p:spPr>
          <a:xfrm>
            <a:off x="2918985" y="3019313"/>
            <a:ext cx="213711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A7320E-8E79-6912-DF8E-AF97D71A0D1C}"/>
              </a:ext>
            </a:extLst>
          </p:cNvPr>
          <p:cNvSpPr/>
          <p:nvPr/>
        </p:nvSpPr>
        <p:spPr>
          <a:xfrm>
            <a:off x="2918985" y="3249486"/>
            <a:ext cx="121946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7">
            <a:extLst>
              <a:ext uri="{FF2B5EF4-FFF2-40B4-BE49-F238E27FC236}">
                <a16:creationId xmlns:a16="http://schemas.microsoft.com/office/drawing/2014/main" id="{DB1EBEE1-406F-4754-D53C-CDCDAB3AFEF2}"/>
              </a:ext>
            </a:extLst>
          </p:cNvPr>
          <p:cNvSpPr txBox="1">
            <a:spLocks/>
          </p:cNvSpPr>
          <p:nvPr/>
        </p:nvSpPr>
        <p:spPr>
          <a:xfrm>
            <a:off x="655757" y="4935366"/>
            <a:ext cx="10880486" cy="1671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该注解标识在</a:t>
            </a:r>
            <a:r>
              <a:rPr lang="en-US" altLang="zh-CN" sz="1600">
                <a:ea typeface="Fira Code" panose="020B0809050000020004" pitchFamily="49" charset="0"/>
              </a:rPr>
              <a:t>SpringBoot</a:t>
            </a:r>
            <a:r>
              <a:rPr lang="zh-CN" altLang="en-US" sz="1600"/>
              <a:t>工程引导类上，是</a:t>
            </a:r>
            <a:r>
              <a:rPr lang="en-US" altLang="zh-CN" sz="1600">
                <a:ea typeface="Fira Code" panose="020B0809050000020004" pitchFamily="49" charset="0"/>
              </a:rPr>
              <a:t>SpringBoot</a:t>
            </a:r>
            <a:r>
              <a:rPr lang="zh-CN" altLang="en-US" sz="1600"/>
              <a:t>中</a:t>
            </a:r>
            <a:r>
              <a:rPr lang="zh-CN" altLang="en-US" sz="1600" b="1">
                <a:solidFill>
                  <a:srgbClr val="C00000"/>
                </a:solidFill>
              </a:rPr>
              <a:t>最最最</a:t>
            </a:r>
            <a:r>
              <a:rPr lang="zh-CN" altLang="en-US" sz="1600"/>
              <a:t>重要的注解。该注解由三个部分组成：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1.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@SpringBootConfiguration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该注解与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@Configuration 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注解作用相同，用来声明当前也是一个配置类。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2.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@ComponentScan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：组件扫描，默认扫描当前引导类所在包及其子包。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3.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@EnableAutoConfiguration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SpringBoot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实现自动化配置的核心注解。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37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源码跟踪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CDB4AB-C8AB-589F-6399-7EBB82FA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72" y="1165416"/>
            <a:ext cx="7211133" cy="116956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!!矩形: 圆角 14">
            <a:extLst>
              <a:ext uri="{FF2B5EF4-FFF2-40B4-BE49-F238E27FC236}">
                <a16:creationId xmlns:a16="http://schemas.microsoft.com/office/drawing/2014/main" id="{4DA66706-96DF-C8F8-D86A-22ABFC04EF94}"/>
              </a:ext>
            </a:extLst>
          </p:cNvPr>
          <p:cNvSpPr/>
          <p:nvPr/>
        </p:nvSpPr>
        <p:spPr>
          <a:xfrm>
            <a:off x="686772" y="1425388"/>
            <a:ext cx="1886098" cy="233083"/>
          </a:xfrm>
          <a:prstGeom prst="round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398C52-B9FF-15EA-E790-BF9A7E08F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33"/>
          <a:stretch/>
        </p:blipFill>
        <p:spPr>
          <a:xfrm>
            <a:off x="6247840" y="1464429"/>
            <a:ext cx="5075853" cy="703818"/>
          </a:xfrm>
          <a:prstGeom prst="roundRect">
            <a:avLst>
              <a:gd name="adj" fmla="val 2703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FFD1A2-C04D-27B2-E513-1FBB3199F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3" y="3525681"/>
            <a:ext cx="4547282" cy="2353969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BF5A514-3A52-530D-3D35-509925080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64" y="3151098"/>
            <a:ext cx="5611889" cy="2522827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E98A8A1-44CF-D826-3958-9DA1C6EBE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525" y="2444771"/>
            <a:ext cx="3092823" cy="1043828"/>
          </a:xfrm>
          <a:prstGeom prst="roundRect">
            <a:avLst>
              <a:gd name="adj" fmla="val 5951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66158F0-BD7B-2B1F-0B14-3D8C96B076B5}"/>
              </a:ext>
            </a:extLst>
          </p:cNvPr>
          <p:cNvSpPr/>
          <p:nvPr/>
        </p:nvSpPr>
        <p:spPr>
          <a:xfrm>
            <a:off x="6247841" y="1706605"/>
            <a:ext cx="3451412" cy="21086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30B5C2-EC85-6969-0DF3-4EF76E42B0F2}"/>
              </a:ext>
            </a:extLst>
          </p:cNvPr>
          <p:cNvSpPr/>
          <p:nvPr/>
        </p:nvSpPr>
        <p:spPr>
          <a:xfrm>
            <a:off x="686772" y="4433006"/>
            <a:ext cx="4547282" cy="20019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BFDCD8-F0F3-0746-C9A0-0FDF7A10E52C}"/>
              </a:ext>
            </a:extLst>
          </p:cNvPr>
          <p:cNvSpPr/>
          <p:nvPr/>
        </p:nvSpPr>
        <p:spPr>
          <a:xfrm>
            <a:off x="8905525" y="2658462"/>
            <a:ext cx="3092823" cy="23206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13811BEA-5EC8-AECE-AA35-627A2175FF93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4662873" y="215007"/>
            <a:ext cx="1608216" cy="5013133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4882143-A0DE-C3BA-ED86-447DA10CDDF8}"/>
              </a:ext>
            </a:extLst>
          </p:cNvPr>
          <p:cNvGrpSpPr/>
          <p:nvPr/>
        </p:nvGrpSpPr>
        <p:grpSpPr>
          <a:xfrm>
            <a:off x="688287" y="6301531"/>
            <a:ext cx="10862188" cy="440139"/>
            <a:chOff x="710879" y="5978768"/>
            <a:chExt cx="11000098" cy="448408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24F8367-94EB-B79F-37A2-6E1D49CD7EEC}"/>
                </a:ext>
              </a:extLst>
            </p:cNvPr>
            <p:cNvSpPr/>
            <p:nvPr/>
          </p:nvSpPr>
          <p:spPr>
            <a:xfrm>
              <a:off x="710879" y="5978769"/>
              <a:ext cx="11000098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在低版本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(2.7.0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以前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)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中，自动配置类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(XxxAutoConfiguration)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是定义在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spring.factories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文件中。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47911D63-438F-B636-7F1C-815BA46286B5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Shape 2468">
              <a:extLst>
                <a:ext uri="{FF2B5EF4-FFF2-40B4-BE49-F238E27FC236}">
                  <a16:creationId xmlns:a16="http://schemas.microsoft.com/office/drawing/2014/main" id="{FB7A865A-DB6A-B3B7-752E-5F32B7F0CCE7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0047F4F-B7D4-BA8E-D105-3268BC494454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37F87DA3-0DB2-9853-3CFC-00A41FF921BB}"/>
              </a:ext>
            </a:extLst>
          </p:cNvPr>
          <p:cNvSpPr txBox="1"/>
          <p:nvPr/>
        </p:nvSpPr>
        <p:spPr>
          <a:xfrm>
            <a:off x="5828446" y="5705523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全部注册为</a:t>
            </a:r>
            <a:r>
              <a:rPr lang="en-US" altLang="zh-CN" sz="2400"/>
              <a:t>IOC</a:t>
            </a:r>
            <a:r>
              <a:rPr lang="zh-CN" altLang="en-US" sz="2400"/>
              <a:t>容器的</a:t>
            </a:r>
            <a:r>
              <a:rPr lang="en-US" altLang="zh-CN" sz="2400"/>
              <a:t>bean ???</a:t>
            </a:r>
            <a:endParaRPr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799B96-96D1-FE61-926D-1B8223856B4D}"/>
              </a:ext>
            </a:extLst>
          </p:cNvPr>
          <p:cNvSpPr txBox="1"/>
          <p:nvPr/>
        </p:nvSpPr>
        <p:spPr>
          <a:xfrm>
            <a:off x="9961303" y="5711157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/>
              <a:t>NO!</a:t>
            </a:r>
            <a:endParaRPr lang="zh-CN" altLang="en-US" sz="2400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14C2BF-5B7B-3A2C-CAC6-8C1D25345138}"/>
              </a:ext>
            </a:extLst>
          </p:cNvPr>
          <p:cNvSpPr/>
          <p:nvPr/>
        </p:nvSpPr>
        <p:spPr>
          <a:xfrm>
            <a:off x="3552202" y="2446751"/>
            <a:ext cx="2397742" cy="24943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String[] selectImports(</a:t>
            </a: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kumimoji="0" lang="zh-CN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2" grpId="1" animBg="1"/>
      <p:bldP spid="20" grpId="0"/>
      <p:bldP spid="21" grpId="0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-@Conditional</a:t>
            </a:r>
            <a:endParaRPr lang="zh-CN" altLang="en-US"/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B90E09CF-5B16-92EB-20C1-8CFDBF3D341A}"/>
              </a:ext>
            </a:extLst>
          </p:cNvPr>
          <p:cNvSpPr txBox="1">
            <a:spLocks/>
          </p:cNvSpPr>
          <p:nvPr/>
        </p:nvSpPr>
        <p:spPr>
          <a:xfrm>
            <a:off x="576196" y="991599"/>
            <a:ext cx="10698800" cy="26305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作用：按照一定的条件进行判断，在满足给定条件后才会注册对应的</a:t>
            </a:r>
            <a:r>
              <a:rPr lang="en-US" altLang="zh-CN" sz="1600">
                <a:ea typeface="Fira Code" panose="020B0809050000020004" pitchFamily="49" charset="0"/>
              </a:rPr>
              <a:t>bean</a:t>
            </a:r>
            <a:r>
              <a:rPr lang="zh-CN" altLang="en-US" sz="1600"/>
              <a:t>对象到</a:t>
            </a:r>
            <a:r>
              <a:rPr lang="en-US" altLang="zh-CN" sz="1600">
                <a:ea typeface="Fira Code" panose="020B0809050000020004" pitchFamily="49" charset="0"/>
              </a:rPr>
              <a:t>Spring IOC</a:t>
            </a:r>
            <a:r>
              <a:rPr lang="zh-CN" altLang="en-US" sz="1600"/>
              <a:t>容器中。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位置：方法、类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ea typeface="Fira Code" panose="020B0809050000020004" pitchFamily="49" charset="0"/>
              </a:rPr>
              <a:t>@Conditional </a:t>
            </a:r>
            <a:r>
              <a:rPr lang="zh-CN" altLang="en-US" sz="1600"/>
              <a:t>本身是一个父注解，派生出大量的子注解：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@ConditionalOnClass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：判断环境中是否有对应字节码文件，才注册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@ConditionalOnMissingBean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：判断环境中没有对应的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（类型 或 名称） 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@ConditionalOnProperty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：判断配置文件中有对应属性和值，才注册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7EC999-1287-2B88-055B-7C7EB902A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7" y="3802938"/>
            <a:ext cx="4841581" cy="1634034"/>
          </a:xfrm>
          <a:prstGeom prst="roundRect">
            <a:avLst>
              <a:gd name="adj" fmla="val 4238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E499E51-AEFA-3EA3-1B3F-24DCCE851A1D}"/>
              </a:ext>
            </a:extLst>
          </p:cNvPr>
          <p:cNvSpPr/>
          <p:nvPr/>
        </p:nvSpPr>
        <p:spPr>
          <a:xfrm>
            <a:off x="964186" y="4130687"/>
            <a:ext cx="4841581" cy="325893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ED64EC-54B7-8E6B-940C-A52BEB1B96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58" r="14404"/>
          <a:stretch/>
        </p:blipFill>
        <p:spPr>
          <a:xfrm>
            <a:off x="8807023" y="3148872"/>
            <a:ext cx="3293943" cy="3690753"/>
          </a:xfrm>
          <a:prstGeom prst="roundRect">
            <a:avLst>
              <a:gd name="adj" fmla="val 1899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0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自动配置原理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9E6CBE-2417-518E-4C05-627AEE66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72" y="1165416"/>
            <a:ext cx="7211133" cy="116956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!!矩形: 圆角 14">
            <a:extLst>
              <a:ext uri="{FF2B5EF4-FFF2-40B4-BE49-F238E27FC236}">
                <a16:creationId xmlns:a16="http://schemas.microsoft.com/office/drawing/2014/main" id="{9A7E3B59-5CC4-6B23-4AFE-56B920CD9B80}"/>
              </a:ext>
            </a:extLst>
          </p:cNvPr>
          <p:cNvSpPr/>
          <p:nvPr/>
        </p:nvSpPr>
        <p:spPr>
          <a:xfrm>
            <a:off x="686772" y="1425388"/>
            <a:ext cx="1886098" cy="233083"/>
          </a:xfrm>
          <a:prstGeom prst="round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D33478-A950-D1B4-A227-FAD50246F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33"/>
          <a:stretch/>
        </p:blipFill>
        <p:spPr>
          <a:xfrm>
            <a:off x="6247840" y="1464429"/>
            <a:ext cx="5075853" cy="703818"/>
          </a:xfrm>
          <a:prstGeom prst="roundRect">
            <a:avLst>
              <a:gd name="adj" fmla="val 2703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140CAE-73EF-636C-036F-4FB0092F7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3" y="3525681"/>
            <a:ext cx="4547282" cy="2353969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4B1679-5419-0F32-8964-6ECCCAA88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64" y="3151098"/>
            <a:ext cx="5611889" cy="2522827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4A9CEA-0EFE-DF3A-36DA-6DBA4CF10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525" y="2444771"/>
            <a:ext cx="3092823" cy="1043828"/>
          </a:xfrm>
          <a:prstGeom prst="roundRect">
            <a:avLst>
              <a:gd name="adj" fmla="val 5951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8E1C8D7-400B-A957-87D0-A2E42B03EE85}"/>
              </a:ext>
            </a:extLst>
          </p:cNvPr>
          <p:cNvSpPr/>
          <p:nvPr/>
        </p:nvSpPr>
        <p:spPr>
          <a:xfrm>
            <a:off x="6247841" y="1706605"/>
            <a:ext cx="3451412" cy="21086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1395F73-DF13-4B31-E3C5-1BB17D3ECC36}"/>
              </a:ext>
            </a:extLst>
          </p:cNvPr>
          <p:cNvSpPr/>
          <p:nvPr/>
        </p:nvSpPr>
        <p:spPr>
          <a:xfrm>
            <a:off x="686772" y="4433006"/>
            <a:ext cx="4547282" cy="20019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AF4392-3A1D-5612-A6B6-2EDAC9DB73ED}"/>
              </a:ext>
            </a:extLst>
          </p:cNvPr>
          <p:cNvSpPr/>
          <p:nvPr/>
        </p:nvSpPr>
        <p:spPr>
          <a:xfrm>
            <a:off x="8905525" y="2658462"/>
            <a:ext cx="3092823" cy="23206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43BD29C-758A-DED1-D7B9-142AAD5C7507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4662873" y="215007"/>
            <a:ext cx="1608216" cy="5013133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A16FEAD-CFB5-489D-B69B-215C3E0777BF}"/>
              </a:ext>
            </a:extLst>
          </p:cNvPr>
          <p:cNvSpPr txBox="1"/>
          <p:nvPr/>
        </p:nvSpPr>
        <p:spPr>
          <a:xfrm>
            <a:off x="5828446" y="5705523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全部注册为</a:t>
            </a:r>
            <a:r>
              <a:rPr lang="en-US" altLang="zh-CN" sz="2400"/>
              <a:t>IOC</a:t>
            </a:r>
            <a:r>
              <a:rPr lang="zh-CN" altLang="en-US" sz="2400"/>
              <a:t>容器的</a:t>
            </a:r>
            <a:r>
              <a:rPr lang="en-US" altLang="zh-CN" sz="2400"/>
              <a:t>bean ???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DE164D-84E8-45DE-FCA0-F8C3DDB9DCEE}"/>
              </a:ext>
            </a:extLst>
          </p:cNvPr>
          <p:cNvSpPr txBox="1"/>
          <p:nvPr/>
        </p:nvSpPr>
        <p:spPr>
          <a:xfrm>
            <a:off x="9961303" y="5711157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/>
              <a:t>NO!</a:t>
            </a:r>
            <a:endParaRPr lang="zh-CN" altLang="en-US" sz="2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C3D9C6-4E31-64CA-361D-A5DC80723EAE}"/>
              </a:ext>
            </a:extLst>
          </p:cNvPr>
          <p:cNvSpPr/>
          <p:nvPr/>
        </p:nvSpPr>
        <p:spPr>
          <a:xfrm>
            <a:off x="3552202" y="2446751"/>
            <a:ext cx="2397742" cy="24943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String[] selectImports(</a:t>
            </a: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kumimoji="0" lang="zh-CN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ED90D3-E9DF-64C3-AC33-BFA46600FF40}"/>
              </a:ext>
            </a:extLst>
          </p:cNvPr>
          <p:cNvSpPr txBox="1"/>
          <p:nvPr/>
        </p:nvSpPr>
        <p:spPr>
          <a:xfrm>
            <a:off x="5941763" y="6167188"/>
            <a:ext cx="548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>
                <a:solidFill>
                  <a:srgbClr val="00B050"/>
                </a:solidFill>
              </a:rPr>
              <a:t>SpringBoot</a:t>
            </a:r>
            <a:r>
              <a:rPr lang="zh-CN" altLang="en-US" sz="2400">
                <a:solidFill>
                  <a:srgbClr val="00B050"/>
                </a:solidFill>
              </a:rPr>
              <a:t>会根据</a:t>
            </a:r>
            <a:r>
              <a:rPr lang="en-US" altLang="zh-CN" sz="2400">
                <a:solidFill>
                  <a:srgbClr val="00B050"/>
                </a:solidFill>
              </a:rPr>
              <a:t>@Conditional</a:t>
            </a:r>
            <a:r>
              <a:rPr lang="zh-CN" altLang="en-US" sz="2400">
                <a:solidFill>
                  <a:srgbClr val="00B050"/>
                </a:solidFill>
              </a:rPr>
              <a:t>注解条件装配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75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2" grpId="1" animBg="1"/>
      <p:bldP spid="14" grpId="0"/>
      <p:bldP spid="15" grpId="0"/>
      <p:bldP spid="16" grpId="0" animBg="1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144D491-167C-F1B8-7E16-12BBBEB39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6930" y="1425193"/>
            <a:ext cx="8976049" cy="46863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@Conditional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及其衍生注解的作用是什么 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满足给定条件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后，注册对应的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对象</a:t>
            </a: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到</a:t>
            </a:r>
            <a:r>
              <a:rPr lang="en-US" altLang="zh-CN" sz="1400" b="0" i="0">
                <a:solidFill>
                  <a:schemeClr val="tx1">
                    <a:lumMod val="50000"/>
                  </a:schemeClr>
                </a:solidFill>
                <a:effectLst/>
              </a:rPr>
              <a:t>Spring IOC</a:t>
            </a: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容器中。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@Conditional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及其衍生注解可以作用在什么地方 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方法上：针对于当前这个方法声明的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类上：针对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于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这个类中所有的方法声明的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3.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自己定义自动配置类的核心是什么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如何完成自动配置？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定义自动配置类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将自动配置类配置在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META-INF/spring/</a:t>
            </a:r>
          </a:p>
          <a:p>
            <a:pPr marL="36000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zh-CN" sz="1400">
                <a:solidFill>
                  <a:schemeClr val="tx1">
                    <a:lumMod val="50000"/>
                  </a:schemeClr>
                </a:solidFill>
              </a:rPr>
              <a:t>org.springframework.boot.autoconfigure.AutoConfiguration.imports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文件中</a:t>
            </a:r>
            <a:endParaRPr lang="zh-CN" altLang="zh-CN" sz="2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385D4D-9F15-2C86-226D-B5C6D11A5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3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36068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源码跟踪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自定义</a:t>
            </a:r>
            <a:r>
              <a:rPr lang="en-US" altLang="zh-CN" sz="1600">
                <a:solidFill>
                  <a:srgbClr val="C00000"/>
                </a:solidFill>
              </a:rPr>
              <a:t>starter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255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2BCB599D-FBDE-B88D-5342-74FEDFF70A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50"/>
          <a:stretch/>
        </p:blipFill>
        <p:spPr>
          <a:xfrm>
            <a:off x="958443" y="5013528"/>
            <a:ext cx="6542774" cy="5137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BF9C005-62AF-6560-1E2A-91EF2E8CA1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50"/>
          <a:stretch/>
        </p:blipFill>
        <p:spPr>
          <a:xfrm>
            <a:off x="958443" y="3916967"/>
            <a:ext cx="6542774" cy="5137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30779AA-7ACF-7D6B-F977-5B878E996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43" y="2747241"/>
            <a:ext cx="6542774" cy="59734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456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在实际开发中，经常会定义一些公共组件，提供给各个项目团队使用。而在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SpringBoot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的项目中，一般会将这些公共组件封装为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SpringBoot 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 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starter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包含了起步依赖和自动配置的功能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）。</a:t>
            </a:r>
            <a:endParaRPr lang="en-US" altLang="zh-CN" sz="16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3899AC-49B5-72A7-41F2-8519FE7683D3}"/>
              </a:ext>
            </a:extLst>
          </p:cNvPr>
          <p:cNvSpPr/>
          <p:nvPr/>
        </p:nvSpPr>
        <p:spPr>
          <a:xfrm>
            <a:off x="958444" y="5012074"/>
            <a:ext cx="6542774" cy="259285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BD12C-DCA9-2996-87FC-C0C5D66B1C76}"/>
              </a:ext>
            </a:extLst>
          </p:cNvPr>
          <p:cNvSpPr/>
          <p:nvPr/>
        </p:nvSpPr>
        <p:spPr>
          <a:xfrm>
            <a:off x="958444" y="3913244"/>
            <a:ext cx="6542774" cy="255715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F01955-5450-B033-7F38-80C3BD3A79F6}"/>
              </a:ext>
            </a:extLst>
          </p:cNvPr>
          <p:cNvSpPr/>
          <p:nvPr/>
        </p:nvSpPr>
        <p:spPr>
          <a:xfrm>
            <a:off x="958444" y="5301196"/>
            <a:ext cx="6542774" cy="231902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694360-C0E1-AD70-984F-0C3D16828E14}"/>
              </a:ext>
            </a:extLst>
          </p:cNvPr>
          <p:cNvSpPr/>
          <p:nvPr/>
        </p:nvSpPr>
        <p:spPr>
          <a:xfrm>
            <a:off x="958444" y="4198796"/>
            <a:ext cx="6542774" cy="231902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9AB6CCDD-1CB0-BDF0-6C35-FDECB4DA845F}"/>
              </a:ext>
            </a:extLst>
          </p:cNvPr>
          <p:cNvSpPr/>
          <p:nvPr/>
        </p:nvSpPr>
        <p:spPr>
          <a:xfrm>
            <a:off x="7750678" y="4910733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0B60043D-9795-C5EC-E0E9-A2EE8CEA90AC}"/>
              </a:ext>
            </a:extLst>
          </p:cNvPr>
          <p:cNvSpPr/>
          <p:nvPr/>
        </p:nvSpPr>
        <p:spPr>
          <a:xfrm>
            <a:off x="7750678" y="5287763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BA2F5BDF-CEB3-6939-5867-9DF989BCA0E4}"/>
              </a:ext>
            </a:extLst>
          </p:cNvPr>
          <p:cNvSpPr/>
          <p:nvPr/>
        </p:nvSpPr>
        <p:spPr>
          <a:xfrm>
            <a:off x="7750678" y="3821766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3" name="矩形: 对角圆角 12">
            <a:extLst>
              <a:ext uri="{FF2B5EF4-FFF2-40B4-BE49-F238E27FC236}">
                <a16:creationId xmlns:a16="http://schemas.microsoft.com/office/drawing/2014/main" id="{E800FFDF-098C-85EF-5CD8-2F129C15DECF}"/>
              </a:ext>
            </a:extLst>
          </p:cNvPr>
          <p:cNvSpPr/>
          <p:nvPr/>
        </p:nvSpPr>
        <p:spPr>
          <a:xfrm>
            <a:off x="7750678" y="4198796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4" name="矩形: 对角圆角 13">
            <a:extLst>
              <a:ext uri="{FF2B5EF4-FFF2-40B4-BE49-F238E27FC236}">
                <a16:creationId xmlns:a16="http://schemas.microsoft.com/office/drawing/2014/main" id="{A0312901-48D1-934E-95F9-0638EAF85CC8}"/>
              </a:ext>
            </a:extLst>
          </p:cNvPr>
          <p:cNvSpPr/>
          <p:nvPr/>
        </p:nvSpPr>
        <p:spPr>
          <a:xfrm>
            <a:off x="7750678" y="2730411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448DA9ED-5AFA-1C2A-ABD9-1512BC001A64}"/>
              </a:ext>
            </a:extLst>
          </p:cNvPr>
          <p:cNvSpPr/>
          <p:nvPr/>
        </p:nvSpPr>
        <p:spPr>
          <a:xfrm>
            <a:off x="7750678" y="3107441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277DFC-6246-D47D-6724-3D35A078DA87}"/>
              </a:ext>
            </a:extLst>
          </p:cNvPr>
          <p:cNvSpPr/>
          <p:nvPr/>
        </p:nvSpPr>
        <p:spPr>
          <a:xfrm>
            <a:off x="958444" y="3078895"/>
            <a:ext cx="6542774" cy="265324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E83167-2864-156A-8484-97C3CBC75E64}"/>
              </a:ext>
            </a:extLst>
          </p:cNvPr>
          <p:cNvSpPr/>
          <p:nvPr/>
        </p:nvSpPr>
        <p:spPr>
          <a:xfrm>
            <a:off x="958443" y="2746978"/>
            <a:ext cx="6542774" cy="300684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814F75-F132-0640-E6DF-872D332911DE}"/>
              </a:ext>
            </a:extLst>
          </p:cNvPr>
          <p:cNvSpPr txBox="1"/>
          <p:nvPr/>
        </p:nvSpPr>
        <p:spPr>
          <a:xfrm>
            <a:off x="9353464" y="2878840"/>
            <a:ext cx="1643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SpringBoot</a:t>
            </a: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官方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7C44A4-B820-AB22-6158-9BA19292D428}"/>
              </a:ext>
            </a:extLst>
          </p:cNvPr>
          <p:cNvSpPr txBox="1"/>
          <p:nvPr/>
        </p:nvSpPr>
        <p:spPr>
          <a:xfrm>
            <a:off x="9353464" y="452383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其它技术提供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210270C7-EF7E-9738-2EE5-1F7B12089E27}"/>
              </a:ext>
            </a:extLst>
          </p:cNvPr>
          <p:cNvCxnSpPr>
            <a:cxnSpLocks/>
          </p:cNvCxnSpPr>
          <p:nvPr/>
        </p:nvCxnSpPr>
        <p:spPr>
          <a:xfrm rot="5400000">
            <a:off x="6287442" y="2946856"/>
            <a:ext cx="318271" cy="177165"/>
          </a:xfrm>
          <a:prstGeom prst="curvedConnector3">
            <a:avLst>
              <a:gd name="adj1" fmla="val 90701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F2A76857-95C8-BED6-4397-96118ECCA48E}"/>
              </a:ext>
            </a:extLst>
          </p:cNvPr>
          <p:cNvCxnSpPr>
            <a:cxnSpLocks/>
          </p:cNvCxnSpPr>
          <p:nvPr/>
        </p:nvCxnSpPr>
        <p:spPr>
          <a:xfrm rot="5400000">
            <a:off x="6861186" y="5168975"/>
            <a:ext cx="318271" cy="177165"/>
          </a:xfrm>
          <a:prstGeom prst="curvedConnector3">
            <a:avLst>
              <a:gd name="adj1" fmla="val 8830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026B9A5D-A51C-7ACC-55A9-7C4B568E75D9}"/>
              </a:ext>
            </a:extLst>
          </p:cNvPr>
          <p:cNvCxnSpPr>
            <a:cxnSpLocks/>
          </p:cNvCxnSpPr>
          <p:nvPr/>
        </p:nvCxnSpPr>
        <p:spPr>
          <a:xfrm rot="5400000">
            <a:off x="6695397" y="4117700"/>
            <a:ext cx="318271" cy="177165"/>
          </a:xfrm>
          <a:prstGeom prst="curvedConnector3">
            <a:avLst>
              <a:gd name="adj1" fmla="val 8830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92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2"/>
            <a:ext cx="11553050" cy="271928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需求：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aliyun-oss-spring-boot-starter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，完成阿里云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操作工具类 </a:t>
            </a:r>
            <a:r>
              <a:rPr lang="zh-CN" altLang="zh-CN">
                <a:solidFill>
                  <a:srgbClr val="000000"/>
                </a:solidFill>
                <a:latin typeface="Fira Code" panose="020B0809050000020004" pitchFamily="49" charset="0"/>
              </a:rPr>
              <a:t>AliyunOSSOperator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的自动配置。</a:t>
            </a:r>
            <a:endParaRPr lang="en-US" altLang="zh-CN">
              <a:solidFill>
                <a:srgbClr val="282D2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目标：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引入起步依赖引入之后，要想使用阿里云</a:t>
            </a:r>
            <a:r>
              <a:rPr lang="en-US" altLang="zh-CN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，注入 </a:t>
            </a:r>
            <a:r>
              <a:rPr lang="zh-CN" altLang="zh-CN">
                <a:solidFill>
                  <a:srgbClr val="000000"/>
                </a:solidFill>
                <a:latin typeface="Fira Code" panose="020B0809050000020004" pitchFamily="49" charset="0"/>
              </a:rPr>
              <a:t>AliyunOSSOperator</a:t>
            </a:r>
            <a:r>
              <a:rPr lang="en-US" altLang="zh-CN">
                <a:solidFill>
                  <a:srgbClr val="000000"/>
                </a:solidFill>
                <a:latin typeface="Fira Code" panose="020B0809050000020004" pitchFamily="49" charset="0"/>
              </a:rPr>
              <a:t> 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直接使用即可。</a:t>
            </a:r>
            <a:endParaRPr lang="en-US" altLang="zh-CN">
              <a:solidFill>
                <a:srgbClr val="282D2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步骤：</a:t>
            </a:r>
            <a:endParaRPr lang="en-US" altLang="zh-CN">
              <a:solidFill>
                <a:srgbClr val="282D2C"/>
              </a:solidFill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aliyun-oss-spring-boot-starter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endParaRPr lang="en-US" altLang="zh-CN" sz="1400">
              <a:solidFill>
                <a:srgbClr val="282D2C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aliyun-oss-spring-boot-autoconfigure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模块，在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starter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中引入该模块</a:t>
            </a:r>
            <a:endParaRPr lang="en-US" altLang="zh-CN" sz="1400">
              <a:solidFill>
                <a:srgbClr val="282D2C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aliyun-oss-spring-boot-autoconfigure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模块中的定义自动配置功能，并定义自动配置文件 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META-INF/spring/xxxx.imports</a:t>
            </a:r>
            <a:endParaRPr lang="en-US" altLang="zh-CN" sz="1400" b="0" i="0">
              <a:solidFill>
                <a:srgbClr val="282D2C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A777F1D-9628-E040-AA86-914ABA266D3C}"/>
              </a:ext>
            </a:extLst>
          </p:cNvPr>
          <p:cNvGrpSpPr/>
          <p:nvPr/>
        </p:nvGrpSpPr>
        <p:grpSpPr>
          <a:xfrm>
            <a:off x="876373" y="5488383"/>
            <a:ext cx="10621564" cy="367385"/>
            <a:chOff x="886619" y="3904462"/>
            <a:chExt cx="10621564" cy="36738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762C147-66F3-5DC0-1702-7A9CAD287F49}"/>
                </a:ext>
              </a:extLst>
            </p:cNvPr>
            <p:cNvSpPr/>
            <p:nvPr/>
          </p:nvSpPr>
          <p:spPr>
            <a:xfrm>
              <a:off x="886619" y="3904462"/>
              <a:ext cx="10612772" cy="358593"/>
            </a:xfrm>
            <a:prstGeom prst="roundRect">
              <a:avLst>
                <a:gd name="adj" fmla="val 16523"/>
              </a:avLst>
            </a:prstGeom>
            <a:solidFill>
              <a:srgbClr val="FFFFE4"/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282D2C"/>
                  </a:solidFill>
                  <a:ea typeface="阿里巴巴普惠体" panose="00020600040101010101" pitchFamily="18" charset="-122"/>
                  <a:cs typeface="Courier New" panose="02070309020205020404" pitchFamily="49" charset="0"/>
                </a:rPr>
                <a:t>aliyun-oss-spring-boot-starter</a:t>
              </a:r>
            </a:p>
          </p:txBody>
        </p:sp>
        <p:sp>
          <p:nvSpPr>
            <p:cNvPr id="6" name="矩形: 对角圆角 5">
              <a:extLst>
                <a:ext uri="{FF2B5EF4-FFF2-40B4-BE49-F238E27FC236}">
                  <a16:creationId xmlns:a16="http://schemas.microsoft.com/office/drawing/2014/main" id="{91A694EE-DF44-F430-47A7-5975C8BBA064}"/>
                </a:ext>
              </a:extLst>
            </p:cNvPr>
            <p:cNvSpPr/>
            <p:nvPr/>
          </p:nvSpPr>
          <p:spPr>
            <a:xfrm>
              <a:off x="9932571" y="3904463"/>
              <a:ext cx="1575612" cy="367384"/>
            </a:xfrm>
            <a:prstGeom prst="round2DiagRect">
              <a:avLst>
                <a:gd name="adj1" fmla="val 7094"/>
                <a:gd name="adj2" fmla="val 15830"/>
              </a:avLst>
            </a:prstGeom>
            <a:solidFill>
              <a:srgbClr val="FFFFB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282D2C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依赖管理功能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6354607-0AE8-2C66-0640-1111F57A2C8A}"/>
              </a:ext>
            </a:extLst>
          </p:cNvPr>
          <p:cNvGrpSpPr/>
          <p:nvPr/>
        </p:nvGrpSpPr>
        <p:grpSpPr>
          <a:xfrm>
            <a:off x="876373" y="6016099"/>
            <a:ext cx="10621564" cy="367384"/>
            <a:chOff x="886619" y="4608288"/>
            <a:chExt cx="10621564" cy="36738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74097ED-928E-517F-093C-3D5D6AE16E48}"/>
                </a:ext>
              </a:extLst>
            </p:cNvPr>
            <p:cNvSpPr/>
            <p:nvPr/>
          </p:nvSpPr>
          <p:spPr>
            <a:xfrm>
              <a:off x="886619" y="4608289"/>
              <a:ext cx="10612772" cy="358593"/>
            </a:xfrm>
            <a:prstGeom prst="roundRect">
              <a:avLst>
                <a:gd name="adj" fmla="val 16523"/>
              </a:avLst>
            </a:prstGeom>
            <a:solidFill>
              <a:srgbClr val="FFFFE4"/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282D2C"/>
                  </a:solidFill>
                  <a:ea typeface="阿里巴巴普惠体" panose="00020600040101010101" pitchFamily="18" charset="-122"/>
                  <a:cs typeface="Courier New" panose="02070309020205020404" pitchFamily="49" charset="0"/>
                </a:rPr>
                <a:t>aliyun-oss-spring-boot-autoconfigure</a:t>
              </a:r>
            </a:p>
          </p:txBody>
        </p:sp>
        <p:sp>
          <p:nvSpPr>
            <p:cNvPr id="9" name="矩形: 对角圆角 8">
              <a:extLst>
                <a:ext uri="{FF2B5EF4-FFF2-40B4-BE49-F238E27FC236}">
                  <a16:creationId xmlns:a16="http://schemas.microsoft.com/office/drawing/2014/main" id="{CACF9534-6D18-BDEE-72CE-B2683E4C5152}"/>
                </a:ext>
              </a:extLst>
            </p:cNvPr>
            <p:cNvSpPr/>
            <p:nvPr/>
          </p:nvSpPr>
          <p:spPr>
            <a:xfrm>
              <a:off x="9932571" y="4608288"/>
              <a:ext cx="1575612" cy="367384"/>
            </a:xfrm>
            <a:prstGeom prst="round2DiagRect">
              <a:avLst>
                <a:gd name="adj1" fmla="val 14274"/>
                <a:gd name="adj2" fmla="val 13192"/>
              </a:avLst>
            </a:prstGeom>
            <a:solidFill>
              <a:srgbClr val="FFB2B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282D2C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自动配置功能</a:t>
              </a:r>
            </a:p>
          </p:txBody>
        </p:sp>
      </p:grp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110A79F2-7E09-498C-F5AE-F2D85EB6F372}"/>
              </a:ext>
            </a:extLst>
          </p:cNvPr>
          <p:cNvCxnSpPr/>
          <p:nvPr/>
        </p:nvCxnSpPr>
        <p:spPr>
          <a:xfrm rot="16200000" flipV="1">
            <a:off x="4388225" y="5688106"/>
            <a:ext cx="573741" cy="493059"/>
          </a:xfrm>
          <a:prstGeom prst="curvedConnector3">
            <a:avLst>
              <a:gd name="adj1" fmla="val 101563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19415</TotalTime>
  <Words>1794</Words>
  <Application>Microsoft Office PowerPoint</Application>
  <PresentationFormat>宽屏</PresentationFormat>
  <Paragraphs>250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7" baseType="lpstr">
      <vt:lpstr>Alibaba PuHuiTi B</vt:lpstr>
      <vt:lpstr>Alibaba PuHuiTi 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Consolas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PowerPoint 演示文稿</vt:lpstr>
      <vt:lpstr>PowerPoint 演示文稿</vt:lpstr>
      <vt:lpstr>配置</vt:lpstr>
      <vt:lpstr>配置</vt:lpstr>
      <vt:lpstr>配置</vt:lpstr>
      <vt:lpstr>PowerPoint 演示文稿</vt:lpstr>
      <vt:lpstr>PowerPoint 演示文稿</vt:lpstr>
      <vt:lpstr>PowerPoint 演示文稿</vt:lpstr>
      <vt:lpstr>bean作用域</vt:lpstr>
      <vt:lpstr>PowerPoint 演示文稿</vt:lpstr>
      <vt:lpstr>第三方Bean</vt:lpstr>
      <vt:lpstr>PowerPoint 演示文稿</vt:lpstr>
      <vt:lpstr>PowerPoint 演示文稿</vt:lpstr>
      <vt:lpstr>PowerPoint 演示文稿</vt:lpstr>
      <vt:lpstr>SpringBoot核心</vt:lpstr>
      <vt:lpstr>SpringBoot核心</vt:lpstr>
      <vt:lpstr>PowerPoint 演示文稿</vt:lpstr>
      <vt:lpstr>起步依赖-原理</vt:lpstr>
      <vt:lpstr>起步依赖-原理</vt:lpstr>
      <vt:lpstr>PowerPoint 演示文稿</vt:lpstr>
      <vt:lpstr>什么是自动配置</vt:lpstr>
      <vt:lpstr>PowerPoint 演示文稿</vt:lpstr>
      <vt:lpstr>自动配置实现方案</vt:lpstr>
      <vt:lpstr>自动配置实现方案一</vt:lpstr>
      <vt:lpstr>自动配置实现方案二</vt:lpstr>
      <vt:lpstr>PowerPoint 演示文稿</vt:lpstr>
      <vt:lpstr>PowerPoint 演示文稿</vt:lpstr>
      <vt:lpstr>自动配置-源码跟踪</vt:lpstr>
      <vt:lpstr>自动配置-源码跟踪</vt:lpstr>
      <vt:lpstr>自动配置-@Conditional</vt:lpstr>
      <vt:lpstr>自动配置原理</vt:lpstr>
      <vt:lpstr>PowerPoint 演示文稿</vt:lpstr>
      <vt:lpstr>PowerPoint 演示文稿</vt:lpstr>
      <vt:lpstr>自定义starter</vt:lpstr>
      <vt:lpstr>自定义starter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1687</cp:revision>
  <cp:lastPrinted>2022-05-29T16:00:00Z</cp:lastPrinted>
  <dcterms:created xsi:type="dcterms:W3CDTF">2022-05-29T16:00:00Z</dcterms:created>
  <dcterms:modified xsi:type="dcterms:W3CDTF">2024-12-09T04:22:45Z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